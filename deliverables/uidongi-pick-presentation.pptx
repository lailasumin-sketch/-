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의동이 PICK은 의성 여행을 준비할 때 정보를 찾고 비교한 뒤 일정을 직접 조합해야 하는 번거로움을 줄이기 위한 체험용 서비스입니다. 같은 의성을 방문하더라도 가족 여행과 연인 여행, 반나절과 하루 여행의 조건은 서로 다릅니다. 그래서 장소를 많이 나열하는 것보다 사용자가 선택한 조건을 일정으로 연결하는 데 집중했습니다. 또 가상 데이터나 확인되지 않은 운영정보가 실제 정보처럼 보이지 않도록 구분했습니다. 이 문제 정의는 서비스가 해결하려는 상황이며, 별도의 이용자 설문이나 효과 측정 결과를 제시하는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 이름은 의동이 PICK이며, 취향은 내가 고르고 의성 여행의 일정 초안은 의동이가 구성한다는 의미입니다. 왼쪽은 실제 USB 체험판 화면입니다. 사용자는 여행 기간, 동행자, 관심사와 권역을 고르고 시작시간과 활동 가능시간을 입력합니다. 자연어 입력도 기간과 관심사 등 지원하는 키워드를 읽어 같은 선택 조건에 반영합니다. 추천은 장소 데이터와 시간 제약을 비교하는 규칙으로 동작합니다. 결과에는 시간순 방문 일정과 간결한 추천 이유를 보여줍니다. 현재 구현은 외부 AI나 실시간 지도 API 호출에 의존하지 않으며, 데이터가 없는 조건은 확인이 필요하다고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데이터는 관광 조사 후보 35곳과 가상 맛집 18곳, 가상 카페 12곳으로 구성했습니다. 맛집과 카페는 기존 엑셀과 같은 CSV 30행, 24개 필드를 사용하며 메뉴, 일인 예산, 동행 유형, 체류시간, 영업시간과 휴무 등의 조건이 있습니다. 관광 후보는 별도 JSON을 재사용하고 조사용 CSV도 함께 제출합니다. 두 CSV 모두 UTF-8 BOM 한글 인코딩을 확인했습니다. USB 빌드 시 데이터를 JavaScript에 내장해 파일 직접 실행에서 CSV 접근 요청이 필요 없도록 만들었습니다. 분류, 권역, 예산 구간을 차트로 요약합니다. 슬라이드의 차트는 제출 데이터 전체 분포이며, 웹 화면의 차트는 검색 결과에 따라 갱신됩니다. 수치는 방문 실적이나 매출이 아닌 레코드 수이고, 주최 측이 제공한 실제 데이터라고 설명하지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발표용으로 그린 목업이 아니라 실제 USB 패키지를 실행해 캡처한 결과입니다. 예시에서는 가족 여행과 여섯 시간의 활동 예산을 선택했습니다. 화면의 체류시간 295분과 사용자가 지정한 이동 여유 60분을 합쳐 355분이 표시됩니다. 이 이동 여유는 실제 도로 이동시간이 아닙니다. 각 장소 아래 초록색 체크에는 가족 여행이나 관심사처럼 데이터와 일치한 조건을 보여줍니다. 점심시간 이유는 실제 배치한 시간대가 맞을 때만 붙습니다. 이동시간이 없는 구간은 숫자를 만들지 않고 확인 필요로 표시하며, 그 이후 시각은 확정이 아닌 최소 시각의 임시 일정으로 안내합니다. 검색과 필터를 바꾼 뒤 같은 방식으로 결과를 비교할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군민과 방문객에게 기대하는 첫 번째 혜택은 조건별 후보와 일정 초안을 한 화면에서 비교할 수 있다는 점입니다. 지역 상권에는 맛집, 카페와 특산물 판매 후보를 관광 일정 안에 연결할 수 있는 구조를 제시합니다. 화면의 상권 연계 수는 추천된 데이터의 수이며 실제 매출이나 방문 성과가 아닙니다. 운영 측면에서는 CSV 자료를 관리하고 추천 근거와 미확인 항목을 구분할 수 있습니다. 현재 제출 버전은 가상 데이터가 포함된 오프라인 체험판입니다. 실제 업소와 운영 정보를 검증하고 이동자료를 확보한 뒤 군민 대상 사용성 평가로 효과를 확인하는 것이 다음 단계입니다.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320040"/>
            <a:ext cx="347472" cy="347472"/>
          </a:xfrm>
          <a:prstGeom prst="roundRect">
            <a:avLst>
              <a:gd name="adj" fmla="val 12000"/>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66928" y="356616"/>
            <a:ext cx="228600" cy="228600"/>
          </a:xfrm>
          <a:prstGeom prst="rect">
            <a:avLst/>
          </a:prstGeom>
          <a:noFill/>
        </p:spPr>
        <p:txBody>
          <a:bodyPr wrap="square" lIns="0" rIns="0" tIns="0" bIns="0">
            <a:noAutofit/>
          </a:bodyPr>
          <a:lstStyle/>
          <a:p>
            <a:pPr>
              <a:spcAft>
                <a:spcPts val="700"/>
              </a:spcAft>
              <a:defRPr sz="1200" b="1">
                <a:solidFill>
                  <a:srgbClr val="FFFFFF"/>
                </a:solidFill>
                <a:latin typeface="맑은 고딕"/>
              </a:defRPr>
            </a:pPr>
            <a:r>
              <a:t>의</a:t>
            </a:r>
          </a:p>
        </p:txBody>
      </p:sp>
      <p:sp>
        <p:nvSpPr>
          <p:cNvPr id="4" name="TextBox 3"/>
          <p:cNvSpPr txBox="1"/>
          <p:nvPr/>
        </p:nvSpPr>
        <p:spPr>
          <a:xfrm>
            <a:off x="960120" y="347472"/>
            <a:ext cx="4572000" cy="274320"/>
          </a:xfrm>
          <a:prstGeom prst="rect">
            <a:avLst/>
          </a:prstGeom>
          <a:noFill/>
        </p:spPr>
        <p:txBody>
          <a:bodyPr wrap="square" lIns="0" rIns="0" tIns="0" bIns="0">
            <a:noAutofit/>
          </a:bodyPr>
          <a:lstStyle/>
          <a:p>
            <a:pPr>
              <a:spcAft>
                <a:spcPts val="700"/>
              </a:spcAft>
              <a:defRPr sz="1200" b="1">
                <a:solidFill>
                  <a:srgbClr val="356B51"/>
                </a:solidFill>
                <a:latin typeface="맑은 고딕"/>
              </a:defRPr>
            </a:pPr>
            <a:r>
              <a:t>의동이 PICK  |  바이브코딩 대회</a:t>
            </a:r>
          </a:p>
        </p:txBody>
      </p:sp>
      <p:sp>
        <p:nvSpPr>
          <p:cNvPr id="5" name="TextBox 4"/>
          <p:cNvSpPr txBox="1"/>
          <p:nvPr/>
        </p:nvSpPr>
        <p:spPr>
          <a:xfrm>
            <a:off x="9418320" y="347472"/>
            <a:ext cx="2286000" cy="274320"/>
          </a:xfrm>
          <a:prstGeom prst="rect">
            <a:avLst/>
          </a:prstGeom>
          <a:noFill/>
        </p:spPr>
        <p:txBody>
          <a:bodyPr wrap="square" lIns="0" rIns="0" tIns="0" bIns="0">
            <a:noAutofit/>
          </a:bodyPr>
          <a:lstStyle/>
          <a:p>
            <a:pPr>
              <a:spcAft>
                <a:spcPts val="700"/>
              </a:spcAft>
              <a:defRPr sz="1200" b="0">
                <a:solidFill>
                  <a:srgbClr val="637583"/>
                </a:solidFill>
                <a:latin typeface="맑은 고딕"/>
              </a:defRPr>
            </a:pPr>
            <a:r>
              <a:t>01  문제 정의</a:t>
            </a:r>
          </a:p>
        </p:txBody>
      </p:sp>
      <p:sp>
        <p:nvSpPr>
          <p:cNvPr id="6" name="TextBox 5"/>
          <p:cNvSpPr txBox="1"/>
          <p:nvPr/>
        </p:nvSpPr>
        <p:spPr>
          <a:xfrm>
            <a:off x="566928" y="932688"/>
            <a:ext cx="11018520" cy="621792"/>
          </a:xfrm>
          <a:prstGeom prst="rect">
            <a:avLst/>
          </a:prstGeom>
          <a:noFill/>
        </p:spPr>
        <p:txBody>
          <a:bodyPr wrap="square" lIns="0" rIns="0" tIns="0" bIns="0">
            <a:noAutofit/>
          </a:bodyPr>
          <a:lstStyle/>
          <a:p>
            <a:pPr>
              <a:spcAft>
                <a:spcPts val="700"/>
              </a:spcAft>
              <a:defRPr sz="2900" b="1">
                <a:solidFill>
                  <a:srgbClr val="19374A"/>
                </a:solidFill>
                <a:latin typeface="맑은 고딕"/>
              </a:defRPr>
            </a:pPr>
            <a:r>
              <a:t>흩어진 여행 정보를, 나에게 맞는 일정으로</a:t>
            </a:r>
          </a:p>
        </p:txBody>
      </p:sp>
      <p:sp>
        <p:nvSpPr>
          <p:cNvPr id="7" name="TextBox 6"/>
          <p:cNvSpPr txBox="1"/>
          <p:nvPr/>
        </p:nvSpPr>
        <p:spPr>
          <a:xfrm>
            <a:off x="594360" y="1691640"/>
            <a:ext cx="10972800" cy="484632"/>
          </a:xfrm>
          <a:prstGeom prst="rect">
            <a:avLst/>
          </a:prstGeom>
          <a:noFill/>
        </p:spPr>
        <p:txBody>
          <a:bodyPr wrap="square" lIns="0" rIns="0" tIns="0" bIns="0">
            <a:noAutofit/>
          </a:bodyPr>
          <a:lstStyle/>
          <a:p>
            <a:pPr>
              <a:spcAft>
                <a:spcPts val="700"/>
              </a:spcAft>
              <a:defRPr sz="1500" b="0">
                <a:solidFill>
                  <a:srgbClr val="637583"/>
                </a:solidFill>
                <a:latin typeface="맑은 고딕"/>
              </a:defRPr>
            </a:pPr>
            <a:r>
              <a:t>해결하고자 하는 문제: 정보 탐색 → 조건 비교 → 일정 구성의 번거로움</a:t>
            </a:r>
          </a:p>
        </p:txBody>
      </p:sp>
      <p:sp>
        <p:nvSpPr>
          <p:cNvPr id="8" name="Rectangle 7"/>
          <p:cNvSpPr/>
          <p:nvPr/>
        </p:nvSpPr>
        <p:spPr>
          <a:xfrm>
            <a:off x="566928" y="6419088"/>
            <a:ext cx="11036808" cy="13716"/>
          </a:xfrm>
          <a:prstGeom prst="rect">
            <a:avLst/>
          </a:prstGeom>
          <a:solidFill>
            <a:srgbClr val="DCE4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94360" y="6519672"/>
            <a:ext cx="9875520" cy="182880"/>
          </a:xfrm>
          <a:prstGeom prst="rect">
            <a:avLst/>
          </a:prstGeom>
          <a:noFill/>
        </p:spPr>
        <p:txBody>
          <a:bodyPr wrap="square" lIns="0" rIns="0" tIns="0" bIns="0">
            <a:noAutofit/>
          </a:bodyPr>
          <a:lstStyle/>
          <a:p>
            <a:pPr>
              <a:spcAft>
                <a:spcPts val="700"/>
              </a:spcAft>
              <a:defRPr sz="900" b="0">
                <a:solidFill>
                  <a:srgbClr val="637583"/>
                </a:solidFill>
                <a:latin typeface="맑은 고딕"/>
              </a:defRPr>
            </a:pPr>
            <a:r>
              <a:t>CSV 기반 오프라인 체험판 · 가상/미검증 자료 포함 · 의성군 공식 서비스 아님</a:t>
            </a:r>
          </a:p>
        </p:txBody>
      </p:sp>
      <p:sp>
        <p:nvSpPr>
          <p:cNvPr id="10" name="TextBox 9"/>
          <p:cNvSpPr txBox="1"/>
          <p:nvPr/>
        </p:nvSpPr>
        <p:spPr>
          <a:xfrm>
            <a:off x="10789920" y="6483096"/>
            <a:ext cx="822960" cy="256032"/>
          </a:xfrm>
          <a:prstGeom prst="rect">
            <a:avLst/>
          </a:prstGeom>
          <a:noFill/>
        </p:spPr>
        <p:txBody>
          <a:bodyPr wrap="square" lIns="0" rIns="0" tIns="0" bIns="0">
            <a:noAutofit/>
          </a:bodyPr>
          <a:lstStyle/>
          <a:p>
            <a:pPr>
              <a:spcAft>
                <a:spcPts val="700"/>
              </a:spcAft>
              <a:defRPr sz="1100" b="1">
                <a:solidFill>
                  <a:srgbClr val="356B51"/>
                </a:solidFill>
                <a:latin typeface="맑은 고딕"/>
              </a:defRPr>
            </a:pPr>
            <a:r>
              <a:t>01 / 05</a:t>
            </a:r>
          </a:p>
        </p:txBody>
      </p:sp>
      <p:sp>
        <p:nvSpPr>
          <p:cNvPr id="11" name="Rounded Rectangle 10"/>
          <p:cNvSpPr/>
          <p:nvPr/>
        </p:nvSpPr>
        <p:spPr>
          <a:xfrm>
            <a:off x="594360" y="2560320"/>
            <a:ext cx="3364992" cy="2395728"/>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22960" y="2788920"/>
            <a:ext cx="640080" cy="438912"/>
          </a:xfrm>
          <a:prstGeom prst="rect">
            <a:avLst/>
          </a:prstGeom>
          <a:noFill/>
        </p:spPr>
        <p:txBody>
          <a:bodyPr wrap="square" lIns="0" rIns="0" tIns="0" bIns="0">
            <a:noAutofit/>
          </a:bodyPr>
          <a:lstStyle/>
          <a:p>
            <a:pPr>
              <a:spcAft>
                <a:spcPts val="700"/>
              </a:spcAft>
              <a:defRPr sz="2300" b="1">
                <a:solidFill>
                  <a:srgbClr val="D98851"/>
                </a:solidFill>
                <a:latin typeface="맑은 고딕"/>
              </a:defRPr>
            </a:pPr>
            <a:r>
              <a:t>01</a:t>
            </a:r>
          </a:p>
        </p:txBody>
      </p:sp>
      <p:sp>
        <p:nvSpPr>
          <p:cNvPr id="13" name="TextBox 12"/>
          <p:cNvSpPr txBox="1"/>
          <p:nvPr/>
        </p:nvSpPr>
        <p:spPr>
          <a:xfrm>
            <a:off x="822960" y="3429000"/>
            <a:ext cx="2926080" cy="420624"/>
          </a:xfrm>
          <a:prstGeom prst="rect">
            <a:avLst/>
          </a:prstGeom>
          <a:noFill/>
        </p:spPr>
        <p:txBody>
          <a:bodyPr wrap="square" lIns="0" rIns="0" tIns="0" bIns="0">
            <a:noAutofit/>
          </a:bodyPr>
          <a:lstStyle/>
          <a:p>
            <a:pPr>
              <a:spcAft>
                <a:spcPts val="700"/>
              </a:spcAft>
              <a:defRPr sz="2100" b="1">
                <a:solidFill>
                  <a:srgbClr val="19374A"/>
                </a:solidFill>
                <a:latin typeface="맑은 고딕"/>
              </a:defRPr>
            </a:pPr>
            <a:r>
              <a:t>정보를 찾는 부담</a:t>
            </a:r>
          </a:p>
        </p:txBody>
      </p:sp>
      <p:sp>
        <p:nvSpPr>
          <p:cNvPr id="14" name="TextBox 13"/>
          <p:cNvSpPr txBox="1"/>
          <p:nvPr/>
        </p:nvSpPr>
        <p:spPr>
          <a:xfrm>
            <a:off x="822960" y="4041648"/>
            <a:ext cx="2926080" cy="685800"/>
          </a:xfrm>
          <a:prstGeom prst="rect">
            <a:avLst/>
          </a:prstGeom>
          <a:noFill/>
        </p:spPr>
        <p:txBody>
          <a:bodyPr wrap="square" lIns="0" rIns="0" tIns="0" bIns="0">
            <a:noAutofit/>
          </a:bodyPr>
          <a:lstStyle/>
          <a:p>
            <a:pPr>
              <a:spcAft>
                <a:spcPts val="700"/>
              </a:spcAft>
              <a:defRPr sz="1500" b="0">
                <a:solidFill>
                  <a:srgbClr val="637583"/>
                </a:solidFill>
                <a:latin typeface="맑은 고딕"/>
              </a:defRPr>
            </a:pPr>
            <a:r>
              <a:t>관광지·맛집·체험 정보를</a:t>
            </a:r>
          </a:p>
          <a:p>
            <a:pPr>
              <a:spcAft>
                <a:spcPts val="700"/>
              </a:spcAft>
              <a:defRPr sz="1500" b="0">
                <a:solidFill>
                  <a:srgbClr val="637583"/>
                </a:solidFill>
                <a:latin typeface="맑은 고딕"/>
              </a:defRPr>
            </a:pPr>
            <a:r>
              <a:t>각각 찾아 비교해야 하는 상황</a:t>
            </a:r>
          </a:p>
        </p:txBody>
      </p:sp>
      <p:sp>
        <p:nvSpPr>
          <p:cNvPr id="15" name="Rounded Rectangle 14"/>
          <p:cNvSpPr/>
          <p:nvPr/>
        </p:nvSpPr>
        <p:spPr>
          <a:xfrm>
            <a:off x="4416552" y="2560320"/>
            <a:ext cx="3364992" cy="2395728"/>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645152" y="2788920"/>
            <a:ext cx="640080" cy="438912"/>
          </a:xfrm>
          <a:prstGeom prst="rect">
            <a:avLst/>
          </a:prstGeom>
          <a:noFill/>
        </p:spPr>
        <p:txBody>
          <a:bodyPr wrap="square" lIns="0" rIns="0" tIns="0" bIns="0">
            <a:noAutofit/>
          </a:bodyPr>
          <a:lstStyle/>
          <a:p>
            <a:pPr>
              <a:spcAft>
                <a:spcPts val="700"/>
              </a:spcAft>
              <a:defRPr sz="2300" b="1">
                <a:solidFill>
                  <a:srgbClr val="D98851"/>
                </a:solidFill>
                <a:latin typeface="맑은 고딕"/>
              </a:defRPr>
            </a:pPr>
            <a:r>
              <a:t>02</a:t>
            </a:r>
          </a:p>
        </p:txBody>
      </p:sp>
      <p:sp>
        <p:nvSpPr>
          <p:cNvPr id="17" name="TextBox 16"/>
          <p:cNvSpPr txBox="1"/>
          <p:nvPr/>
        </p:nvSpPr>
        <p:spPr>
          <a:xfrm>
            <a:off x="4645152" y="3429000"/>
            <a:ext cx="2926080" cy="420624"/>
          </a:xfrm>
          <a:prstGeom prst="rect">
            <a:avLst/>
          </a:prstGeom>
          <a:noFill/>
        </p:spPr>
        <p:txBody>
          <a:bodyPr wrap="square" lIns="0" rIns="0" tIns="0" bIns="0">
            <a:noAutofit/>
          </a:bodyPr>
          <a:lstStyle/>
          <a:p>
            <a:pPr>
              <a:spcAft>
                <a:spcPts val="700"/>
              </a:spcAft>
              <a:defRPr sz="2100" b="1">
                <a:solidFill>
                  <a:srgbClr val="19374A"/>
                </a:solidFill>
                <a:latin typeface="맑은 고딕"/>
              </a:defRPr>
            </a:pPr>
            <a:r>
              <a:t>조건마다 다른 선택</a:t>
            </a:r>
          </a:p>
        </p:txBody>
      </p:sp>
      <p:sp>
        <p:nvSpPr>
          <p:cNvPr id="18" name="TextBox 17"/>
          <p:cNvSpPr txBox="1"/>
          <p:nvPr/>
        </p:nvSpPr>
        <p:spPr>
          <a:xfrm>
            <a:off x="4645152" y="4041648"/>
            <a:ext cx="2926080" cy="685800"/>
          </a:xfrm>
          <a:prstGeom prst="rect">
            <a:avLst/>
          </a:prstGeom>
          <a:noFill/>
        </p:spPr>
        <p:txBody>
          <a:bodyPr wrap="square" lIns="0" rIns="0" tIns="0" bIns="0">
            <a:noAutofit/>
          </a:bodyPr>
          <a:lstStyle/>
          <a:p>
            <a:pPr>
              <a:spcAft>
                <a:spcPts val="700"/>
              </a:spcAft>
              <a:defRPr sz="1500" b="0">
                <a:solidFill>
                  <a:srgbClr val="637583"/>
                </a:solidFill>
                <a:latin typeface="맑은 고딕"/>
              </a:defRPr>
            </a:pPr>
            <a:r>
              <a:t>동행·시간·관심사에 따라</a:t>
            </a:r>
          </a:p>
          <a:p>
            <a:pPr>
              <a:spcAft>
                <a:spcPts val="700"/>
              </a:spcAft>
              <a:defRPr sz="1500" b="0">
                <a:solidFill>
                  <a:srgbClr val="637583"/>
                </a:solidFill>
                <a:latin typeface="맑은 고딕"/>
              </a:defRPr>
            </a:pPr>
            <a:r>
              <a:t>필요한 여행 코스가 달라짐</a:t>
            </a:r>
          </a:p>
        </p:txBody>
      </p:sp>
      <p:sp>
        <p:nvSpPr>
          <p:cNvPr id="19" name="Rounded Rectangle 18"/>
          <p:cNvSpPr/>
          <p:nvPr/>
        </p:nvSpPr>
        <p:spPr>
          <a:xfrm>
            <a:off x="8238744" y="2560320"/>
            <a:ext cx="3364992" cy="2395728"/>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467344" y="2788920"/>
            <a:ext cx="640080" cy="438912"/>
          </a:xfrm>
          <a:prstGeom prst="rect">
            <a:avLst/>
          </a:prstGeom>
          <a:noFill/>
        </p:spPr>
        <p:txBody>
          <a:bodyPr wrap="square" lIns="0" rIns="0" tIns="0" bIns="0">
            <a:noAutofit/>
          </a:bodyPr>
          <a:lstStyle/>
          <a:p>
            <a:pPr>
              <a:spcAft>
                <a:spcPts val="700"/>
              </a:spcAft>
              <a:defRPr sz="2300" b="1">
                <a:solidFill>
                  <a:srgbClr val="D98851"/>
                </a:solidFill>
                <a:latin typeface="맑은 고딕"/>
              </a:defRPr>
            </a:pPr>
            <a:r>
              <a:t>03</a:t>
            </a:r>
          </a:p>
        </p:txBody>
      </p:sp>
      <p:sp>
        <p:nvSpPr>
          <p:cNvPr id="21" name="TextBox 20"/>
          <p:cNvSpPr txBox="1"/>
          <p:nvPr/>
        </p:nvSpPr>
        <p:spPr>
          <a:xfrm>
            <a:off x="8467344" y="3429000"/>
            <a:ext cx="2926080" cy="420624"/>
          </a:xfrm>
          <a:prstGeom prst="rect">
            <a:avLst/>
          </a:prstGeom>
          <a:noFill/>
        </p:spPr>
        <p:txBody>
          <a:bodyPr wrap="square" lIns="0" rIns="0" tIns="0" bIns="0">
            <a:noAutofit/>
          </a:bodyPr>
          <a:lstStyle/>
          <a:p>
            <a:pPr>
              <a:spcAft>
                <a:spcPts val="700"/>
              </a:spcAft>
              <a:defRPr sz="2100" b="1">
                <a:solidFill>
                  <a:srgbClr val="19374A"/>
                </a:solidFill>
                <a:latin typeface="맑은 고딕"/>
              </a:defRPr>
            </a:pPr>
            <a:r>
              <a:t>정보의 근거 확인</a:t>
            </a:r>
          </a:p>
        </p:txBody>
      </p:sp>
      <p:sp>
        <p:nvSpPr>
          <p:cNvPr id="22" name="TextBox 21"/>
          <p:cNvSpPr txBox="1"/>
          <p:nvPr/>
        </p:nvSpPr>
        <p:spPr>
          <a:xfrm>
            <a:off x="8467344" y="4041648"/>
            <a:ext cx="2926080" cy="685800"/>
          </a:xfrm>
          <a:prstGeom prst="rect">
            <a:avLst/>
          </a:prstGeom>
          <a:noFill/>
        </p:spPr>
        <p:txBody>
          <a:bodyPr wrap="square" lIns="0" rIns="0" tIns="0" bIns="0">
            <a:noAutofit/>
          </a:bodyPr>
          <a:lstStyle/>
          <a:p>
            <a:pPr>
              <a:spcAft>
                <a:spcPts val="700"/>
              </a:spcAft>
              <a:defRPr sz="1500" b="0">
                <a:solidFill>
                  <a:srgbClr val="637583"/>
                </a:solidFill>
                <a:latin typeface="맑은 고딕"/>
              </a:defRPr>
            </a:pPr>
            <a:r>
              <a:t>가상·미확인 자료와</a:t>
            </a:r>
          </a:p>
          <a:p>
            <a:pPr>
              <a:spcAft>
                <a:spcPts val="700"/>
              </a:spcAft>
              <a:defRPr sz="1500" b="0">
                <a:solidFill>
                  <a:srgbClr val="637583"/>
                </a:solidFill>
                <a:latin typeface="맑은 고딕"/>
              </a:defRPr>
            </a:pPr>
            <a:r>
              <a:t>계산한 조건을 구분할 필요</a:t>
            </a:r>
          </a:p>
        </p:txBody>
      </p:sp>
      <p:sp>
        <p:nvSpPr>
          <p:cNvPr id="23" name="Rounded Rectangle 22"/>
          <p:cNvSpPr/>
          <p:nvPr/>
        </p:nvSpPr>
        <p:spPr>
          <a:xfrm>
            <a:off x="594360" y="5330952"/>
            <a:ext cx="11009376" cy="603504"/>
          </a:xfrm>
          <a:prstGeom prst="roundRect">
            <a:avLst>
              <a:gd name="adj" fmla="val 12000"/>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41248" y="5486400"/>
            <a:ext cx="10515600" cy="274320"/>
          </a:xfrm>
          <a:prstGeom prst="rect">
            <a:avLst/>
          </a:prstGeom>
          <a:noFill/>
        </p:spPr>
        <p:txBody>
          <a:bodyPr wrap="square" lIns="0" rIns="0" tIns="0" bIns="0">
            <a:noAutofit/>
          </a:bodyPr>
          <a:lstStyle/>
          <a:p>
            <a:pPr>
              <a:spcAft>
                <a:spcPts val="700"/>
              </a:spcAft>
              <a:defRPr sz="1800" b="1">
                <a:solidFill>
                  <a:srgbClr val="356B51"/>
                </a:solidFill>
                <a:latin typeface="맑은 고딕"/>
              </a:defRPr>
            </a:pPr>
            <a:r>
              <a:t>제안: 선택한 조건과 데이터 근거가 보이는 맞춤형 의성 여행 로드맵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320040"/>
            <a:ext cx="347472" cy="347472"/>
          </a:xfrm>
          <a:prstGeom prst="roundRect">
            <a:avLst>
              <a:gd name="adj" fmla="val 12000"/>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66928" y="356616"/>
            <a:ext cx="228600" cy="228600"/>
          </a:xfrm>
          <a:prstGeom prst="rect">
            <a:avLst/>
          </a:prstGeom>
          <a:noFill/>
        </p:spPr>
        <p:txBody>
          <a:bodyPr wrap="square" lIns="0" rIns="0" tIns="0" bIns="0">
            <a:noAutofit/>
          </a:bodyPr>
          <a:lstStyle/>
          <a:p>
            <a:pPr>
              <a:spcAft>
                <a:spcPts val="700"/>
              </a:spcAft>
              <a:defRPr sz="1200" b="1">
                <a:solidFill>
                  <a:srgbClr val="FFFFFF"/>
                </a:solidFill>
                <a:latin typeface="맑은 고딕"/>
              </a:defRPr>
            </a:pPr>
            <a:r>
              <a:t>의</a:t>
            </a:r>
          </a:p>
        </p:txBody>
      </p:sp>
      <p:sp>
        <p:nvSpPr>
          <p:cNvPr id="4" name="TextBox 3"/>
          <p:cNvSpPr txBox="1"/>
          <p:nvPr/>
        </p:nvSpPr>
        <p:spPr>
          <a:xfrm>
            <a:off x="960120" y="347472"/>
            <a:ext cx="4572000" cy="274320"/>
          </a:xfrm>
          <a:prstGeom prst="rect">
            <a:avLst/>
          </a:prstGeom>
          <a:noFill/>
        </p:spPr>
        <p:txBody>
          <a:bodyPr wrap="square" lIns="0" rIns="0" tIns="0" bIns="0">
            <a:noAutofit/>
          </a:bodyPr>
          <a:lstStyle/>
          <a:p>
            <a:pPr>
              <a:spcAft>
                <a:spcPts val="700"/>
              </a:spcAft>
              <a:defRPr sz="1200" b="1">
                <a:solidFill>
                  <a:srgbClr val="356B51"/>
                </a:solidFill>
                <a:latin typeface="맑은 고딕"/>
              </a:defRPr>
            </a:pPr>
            <a:r>
              <a:t>의동이 PICK  |  바이브코딩 대회</a:t>
            </a:r>
          </a:p>
        </p:txBody>
      </p:sp>
      <p:sp>
        <p:nvSpPr>
          <p:cNvPr id="5" name="TextBox 4"/>
          <p:cNvSpPr txBox="1"/>
          <p:nvPr/>
        </p:nvSpPr>
        <p:spPr>
          <a:xfrm>
            <a:off x="9418320" y="347472"/>
            <a:ext cx="2286000" cy="274320"/>
          </a:xfrm>
          <a:prstGeom prst="rect">
            <a:avLst/>
          </a:prstGeom>
          <a:noFill/>
        </p:spPr>
        <p:txBody>
          <a:bodyPr wrap="square" lIns="0" rIns="0" tIns="0" bIns="0">
            <a:noAutofit/>
          </a:bodyPr>
          <a:lstStyle/>
          <a:p>
            <a:pPr>
              <a:spcAft>
                <a:spcPts val="700"/>
              </a:spcAft>
              <a:defRPr sz="1200" b="0">
                <a:solidFill>
                  <a:srgbClr val="637583"/>
                </a:solidFill>
                <a:latin typeface="맑은 고딕"/>
              </a:defRPr>
            </a:pPr>
            <a:r>
              <a:t>02  서비스 소개</a:t>
            </a:r>
          </a:p>
        </p:txBody>
      </p:sp>
      <p:sp>
        <p:nvSpPr>
          <p:cNvPr id="6" name="TextBox 5"/>
          <p:cNvSpPr txBox="1"/>
          <p:nvPr/>
        </p:nvSpPr>
        <p:spPr>
          <a:xfrm>
            <a:off x="566928" y="932688"/>
            <a:ext cx="11018520" cy="621792"/>
          </a:xfrm>
          <a:prstGeom prst="rect">
            <a:avLst/>
          </a:prstGeom>
          <a:noFill/>
        </p:spPr>
        <p:txBody>
          <a:bodyPr wrap="square" lIns="0" rIns="0" tIns="0" bIns="0">
            <a:noAutofit/>
          </a:bodyPr>
          <a:lstStyle/>
          <a:p>
            <a:pPr>
              <a:spcAft>
                <a:spcPts val="700"/>
              </a:spcAft>
              <a:defRPr sz="2900" b="1">
                <a:solidFill>
                  <a:srgbClr val="19374A"/>
                </a:solidFill>
                <a:latin typeface="맑은 고딕"/>
              </a:defRPr>
            </a:pPr>
            <a:r>
              <a:t>의동이 PICK — 취향은 내가, 의성 여행은 의동이가</a:t>
            </a:r>
          </a:p>
        </p:txBody>
      </p:sp>
      <p:sp>
        <p:nvSpPr>
          <p:cNvPr id="7" name="TextBox 6"/>
          <p:cNvSpPr txBox="1"/>
          <p:nvPr/>
        </p:nvSpPr>
        <p:spPr>
          <a:xfrm>
            <a:off x="594360" y="1691640"/>
            <a:ext cx="10972800" cy="484632"/>
          </a:xfrm>
          <a:prstGeom prst="rect">
            <a:avLst/>
          </a:prstGeom>
          <a:noFill/>
        </p:spPr>
        <p:txBody>
          <a:bodyPr wrap="square" lIns="0" rIns="0" tIns="0" bIns="0">
            <a:noAutofit/>
          </a:bodyPr>
          <a:lstStyle/>
          <a:p>
            <a:pPr>
              <a:spcAft>
                <a:spcPts val="700"/>
              </a:spcAft>
              <a:defRPr sz="1500" b="0">
                <a:solidFill>
                  <a:srgbClr val="637583"/>
                </a:solidFill>
                <a:latin typeface="맑은 고딕"/>
              </a:defRPr>
            </a:pPr>
            <a:r>
              <a:t>조건 선택 또는 문장 입력으로 후보를 비교하고 시간순 일정표를 생성합니다.</a:t>
            </a:r>
          </a:p>
        </p:txBody>
      </p:sp>
      <p:sp>
        <p:nvSpPr>
          <p:cNvPr id="8" name="Rectangle 7"/>
          <p:cNvSpPr/>
          <p:nvPr/>
        </p:nvSpPr>
        <p:spPr>
          <a:xfrm>
            <a:off x="566928" y="6419088"/>
            <a:ext cx="11036808" cy="13716"/>
          </a:xfrm>
          <a:prstGeom prst="rect">
            <a:avLst/>
          </a:prstGeom>
          <a:solidFill>
            <a:srgbClr val="DCE4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94360" y="6519672"/>
            <a:ext cx="9875520" cy="182880"/>
          </a:xfrm>
          <a:prstGeom prst="rect">
            <a:avLst/>
          </a:prstGeom>
          <a:noFill/>
        </p:spPr>
        <p:txBody>
          <a:bodyPr wrap="square" lIns="0" rIns="0" tIns="0" bIns="0">
            <a:noAutofit/>
          </a:bodyPr>
          <a:lstStyle/>
          <a:p>
            <a:pPr>
              <a:spcAft>
                <a:spcPts val="700"/>
              </a:spcAft>
              <a:defRPr sz="900" b="0">
                <a:solidFill>
                  <a:srgbClr val="637583"/>
                </a:solidFill>
                <a:latin typeface="맑은 고딕"/>
              </a:defRPr>
            </a:pPr>
            <a:r>
              <a:t>CSV 기반 오프라인 체험판 · 가상/미검증 자료 포함 · 의성군 공식 서비스 아님</a:t>
            </a:r>
          </a:p>
        </p:txBody>
      </p:sp>
      <p:sp>
        <p:nvSpPr>
          <p:cNvPr id="10" name="TextBox 9"/>
          <p:cNvSpPr txBox="1"/>
          <p:nvPr/>
        </p:nvSpPr>
        <p:spPr>
          <a:xfrm>
            <a:off x="10789920" y="6483096"/>
            <a:ext cx="822960" cy="256032"/>
          </a:xfrm>
          <a:prstGeom prst="rect">
            <a:avLst/>
          </a:prstGeom>
          <a:noFill/>
        </p:spPr>
        <p:txBody>
          <a:bodyPr wrap="square" lIns="0" rIns="0" tIns="0" bIns="0">
            <a:noAutofit/>
          </a:bodyPr>
          <a:lstStyle/>
          <a:p>
            <a:pPr>
              <a:spcAft>
                <a:spcPts val="700"/>
              </a:spcAft>
              <a:defRPr sz="1100" b="1">
                <a:solidFill>
                  <a:srgbClr val="356B51"/>
                </a:solidFill>
                <a:latin typeface="맑은 고딕"/>
              </a:defRPr>
            </a:pPr>
            <a:r>
              <a:t>02 / 05</a:t>
            </a:r>
          </a:p>
        </p:txBody>
      </p:sp>
      <p:sp>
        <p:nvSpPr>
          <p:cNvPr id="11" name="Rounded Rectangle 10"/>
          <p:cNvSpPr/>
          <p:nvPr/>
        </p:nvSpPr>
        <p:spPr>
          <a:xfrm>
            <a:off x="594360" y="2377440"/>
            <a:ext cx="6949440" cy="3630168"/>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화면_메인.png"/>
          <p:cNvPicPr>
            <a:picLocks noChangeAspect="1"/>
          </p:cNvPicPr>
          <p:nvPr/>
        </p:nvPicPr>
        <p:blipFill>
          <a:blip r:embed="rId2"/>
          <a:stretch>
            <a:fillRect/>
          </a:stretch>
        </p:blipFill>
        <p:spPr>
          <a:xfrm>
            <a:off x="1567281" y="2450592"/>
            <a:ext cx="5003596" cy="3474720"/>
          </a:xfrm>
          <a:prstGeom prst="rect">
            <a:avLst/>
          </a:prstGeom>
        </p:spPr>
      </p:pic>
      <p:sp>
        <p:nvSpPr>
          <p:cNvPr id="13" name="Rounded Rectangle 12"/>
          <p:cNvSpPr/>
          <p:nvPr/>
        </p:nvSpPr>
        <p:spPr>
          <a:xfrm>
            <a:off x="7909560" y="2487168"/>
            <a:ext cx="347472" cy="347472"/>
          </a:xfrm>
          <a:prstGeom prst="roundRect">
            <a:avLst>
              <a:gd name="adj" fmla="val 12000"/>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010144" y="2523744"/>
            <a:ext cx="182880" cy="201168"/>
          </a:xfrm>
          <a:prstGeom prst="rect">
            <a:avLst/>
          </a:prstGeom>
          <a:noFill/>
        </p:spPr>
        <p:txBody>
          <a:bodyPr wrap="square" lIns="0" rIns="0" tIns="0" bIns="0">
            <a:noAutofit/>
          </a:bodyPr>
          <a:lstStyle/>
          <a:p>
            <a:pPr>
              <a:spcAft>
                <a:spcPts val="700"/>
              </a:spcAft>
              <a:defRPr sz="1200" b="1">
                <a:solidFill>
                  <a:srgbClr val="FFFFFF"/>
                </a:solidFill>
                <a:latin typeface="맑은 고딕"/>
              </a:defRPr>
            </a:pPr>
            <a:r>
              <a:t>1</a:t>
            </a:r>
          </a:p>
        </p:txBody>
      </p:sp>
      <p:sp>
        <p:nvSpPr>
          <p:cNvPr id="15" name="TextBox 14"/>
          <p:cNvSpPr txBox="1"/>
          <p:nvPr/>
        </p:nvSpPr>
        <p:spPr>
          <a:xfrm>
            <a:off x="8412480" y="2459736"/>
            <a:ext cx="3017520" cy="365760"/>
          </a:xfrm>
          <a:prstGeom prst="rect">
            <a:avLst/>
          </a:prstGeom>
          <a:noFill/>
        </p:spPr>
        <p:txBody>
          <a:bodyPr wrap="square" lIns="0" rIns="0" tIns="0" bIns="0">
            <a:noAutofit/>
          </a:bodyPr>
          <a:lstStyle/>
          <a:p>
            <a:pPr>
              <a:spcAft>
                <a:spcPts val="700"/>
              </a:spcAft>
              <a:defRPr sz="1900" b="1">
                <a:solidFill>
                  <a:srgbClr val="19374A"/>
                </a:solidFill>
                <a:latin typeface="맑은 고딕"/>
              </a:defRPr>
            </a:pPr>
            <a:r>
              <a:t>여행 조건 입력</a:t>
            </a:r>
          </a:p>
        </p:txBody>
      </p:sp>
      <p:sp>
        <p:nvSpPr>
          <p:cNvPr id="16" name="TextBox 15"/>
          <p:cNvSpPr txBox="1"/>
          <p:nvPr/>
        </p:nvSpPr>
        <p:spPr>
          <a:xfrm>
            <a:off x="8412480" y="2889504"/>
            <a:ext cx="2834640" cy="585216"/>
          </a:xfrm>
          <a:prstGeom prst="rect">
            <a:avLst/>
          </a:prstGeom>
          <a:noFill/>
        </p:spPr>
        <p:txBody>
          <a:bodyPr wrap="square" lIns="0" rIns="0" tIns="0" bIns="0">
            <a:noAutofit/>
          </a:bodyPr>
          <a:lstStyle/>
          <a:p>
            <a:pPr>
              <a:spcAft>
                <a:spcPts val="700"/>
              </a:spcAft>
              <a:defRPr sz="1300" b="0">
                <a:solidFill>
                  <a:srgbClr val="637583"/>
                </a:solidFill>
                <a:latin typeface="맑은 고딕"/>
              </a:defRPr>
            </a:pPr>
            <a:r>
              <a:t>기간·동행·관심사·권역</a:t>
            </a:r>
          </a:p>
          <a:p>
            <a:pPr>
              <a:spcAft>
                <a:spcPts val="700"/>
              </a:spcAft>
              <a:defRPr sz="1300" b="0">
                <a:solidFill>
                  <a:srgbClr val="637583"/>
                </a:solidFill>
                <a:latin typeface="맑은 고딕"/>
              </a:defRPr>
            </a:pPr>
            <a:r>
              <a:t>시작시간·활동시간·여행 속도</a:t>
            </a:r>
          </a:p>
        </p:txBody>
      </p:sp>
      <p:sp>
        <p:nvSpPr>
          <p:cNvPr id="17" name="Rounded Rectangle 16"/>
          <p:cNvSpPr/>
          <p:nvPr/>
        </p:nvSpPr>
        <p:spPr>
          <a:xfrm>
            <a:off x="7909560" y="3657600"/>
            <a:ext cx="347472" cy="347472"/>
          </a:xfrm>
          <a:prstGeom prst="roundRect">
            <a:avLst>
              <a:gd name="adj" fmla="val 12000"/>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010144" y="3694176"/>
            <a:ext cx="182880" cy="201168"/>
          </a:xfrm>
          <a:prstGeom prst="rect">
            <a:avLst/>
          </a:prstGeom>
          <a:noFill/>
        </p:spPr>
        <p:txBody>
          <a:bodyPr wrap="square" lIns="0" rIns="0" tIns="0" bIns="0">
            <a:noAutofit/>
          </a:bodyPr>
          <a:lstStyle/>
          <a:p>
            <a:pPr>
              <a:spcAft>
                <a:spcPts val="700"/>
              </a:spcAft>
              <a:defRPr sz="1200" b="1">
                <a:solidFill>
                  <a:srgbClr val="FFFFFF"/>
                </a:solidFill>
                <a:latin typeface="맑은 고딕"/>
              </a:defRPr>
            </a:pPr>
            <a:r>
              <a:t>2</a:t>
            </a:r>
          </a:p>
        </p:txBody>
      </p:sp>
      <p:sp>
        <p:nvSpPr>
          <p:cNvPr id="19" name="TextBox 18"/>
          <p:cNvSpPr txBox="1"/>
          <p:nvPr/>
        </p:nvSpPr>
        <p:spPr>
          <a:xfrm>
            <a:off x="8412480" y="3630168"/>
            <a:ext cx="3017520" cy="365760"/>
          </a:xfrm>
          <a:prstGeom prst="rect">
            <a:avLst/>
          </a:prstGeom>
          <a:noFill/>
        </p:spPr>
        <p:txBody>
          <a:bodyPr wrap="square" lIns="0" rIns="0" tIns="0" bIns="0">
            <a:noAutofit/>
          </a:bodyPr>
          <a:lstStyle/>
          <a:p>
            <a:pPr>
              <a:spcAft>
                <a:spcPts val="700"/>
              </a:spcAft>
              <a:defRPr sz="1900" b="1">
                <a:solidFill>
                  <a:srgbClr val="19374A"/>
                </a:solidFill>
                <a:latin typeface="맑은 고딕"/>
              </a:defRPr>
            </a:pPr>
            <a:r>
              <a:t>데이터와 조건 비교</a:t>
            </a:r>
          </a:p>
        </p:txBody>
      </p:sp>
      <p:sp>
        <p:nvSpPr>
          <p:cNvPr id="20" name="TextBox 19"/>
          <p:cNvSpPr txBox="1"/>
          <p:nvPr/>
        </p:nvSpPr>
        <p:spPr>
          <a:xfrm>
            <a:off x="8412480" y="4059936"/>
            <a:ext cx="2834640" cy="585216"/>
          </a:xfrm>
          <a:prstGeom prst="rect">
            <a:avLst/>
          </a:prstGeom>
          <a:noFill/>
        </p:spPr>
        <p:txBody>
          <a:bodyPr wrap="square" lIns="0" rIns="0" tIns="0" bIns="0">
            <a:noAutofit/>
          </a:bodyPr>
          <a:lstStyle/>
          <a:p>
            <a:pPr>
              <a:spcAft>
                <a:spcPts val="700"/>
              </a:spcAft>
              <a:defRPr sz="1300" b="0">
                <a:solidFill>
                  <a:srgbClr val="637583"/>
                </a:solidFill>
                <a:latin typeface="맑은 고딕"/>
              </a:defRPr>
            </a:pPr>
            <a:r>
              <a:t>체류시간·가상 업소 영업시간</a:t>
            </a:r>
          </a:p>
          <a:p>
            <a:pPr>
              <a:spcAft>
                <a:spcPts val="700"/>
              </a:spcAft>
              <a:defRPr sz="1300" b="0">
                <a:solidFill>
                  <a:srgbClr val="637583"/>
                </a:solidFill>
                <a:latin typeface="맑은 고딕"/>
              </a:defRPr>
            </a:pPr>
            <a:r>
              <a:t>휴무·예산·주차 조건 반영</a:t>
            </a:r>
          </a:p>
        </p:txBody>
      </p:sp>
      <p:sp>
        <p:nvSpPr>
          <p:cNvPr id="21" name="Rounded Rectangle 20"/>
          <p:cNvSpPr/>
          <p:nvPr/>
        </p:nvSpPr>
        <p:spPr>
          <a:xfrm>
            <a:off x="7909560" y="4828032"/>
            <a:ext cx="347472" cy="347472"/>
          </a:xfrm>
          <a:prstGeom prst="roundRect">
            <a:avLst>
              <a:gd name="adj" fmla="val 12000"/>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010144" y="4864608"/>
            <a:ext cx="182880" cy="201168"/>
          </a:xfrm>
          <a:prstGeom prst="rect">
            <a:avLst/>
          </a:prstGeom>
          <a:noFill/>
        </p:spPr>
        <p:txBody>
          <a:bodyPr wrap="square" lIns="0" rIns="0" tIns="0" bIns="0">
            <a:noAutofit/>
          </a:bodyPr>
          <a:lstStyle/>
          <a:p>
            <a:pPr>
              <a:spcAft>
                <a:spcPts val="700"/>
              </a:spcAft>
              <a:defRPr sz="1200" b="1">
                <a:solidFill>
                  <a:srgbClr val="FFFFFF"/>
                </a:solidFill>
                <a:latin typeface="맑은 고딕"/>
              </a:defRPr>
            </a:pPr>
            <a:r>
              <a:t>3</a:t>
            </a:r>
          </a:p>
        </p:txBody>
      </p:sp>
      <p:sp>
        <p:nvSpPr>
          <p:cNvPr id="23" name="TextBox 22"/>
          <p:cNvSpPr txBox="1"/>
          <p:nvPr/>
        </p:nvSpPr>
        <p:spPr>
          <a:xfrm>
            <a:off x="8412480" y="4800600"/>
            <a:ext cx="3017520" cy="365760"/>
          </a:xfrm>
          <a:prstGeom prst="rect">
            <a:avLst/>
          </a:prstGeom>
          <a:noFill/>
        </p:spPr>
        <p:txBody>
          <a:bodyPr wrap="square" lIns="0" rIns="0" tIns="0" bIns="0">
            <a:noAutofit/>
          </a:bodyPr>
          <a:lstStyle/>
          <a:p>
            <a:pPr>
              <a:spcAft>
                <a:spcPts val="700"/>
              </a:spcAft>
              <a:defRPr sz="1900" b="1">
                <a:solidFill>
                  <a:srgbClr val="19374A"/>
                </a:solidFill>
                <a:latin typeface="맑은 고딕"/>
              </a:defRPr>
            </a:pPr>
            <a:r>
              <a:t>시간표와 추천 이유</a:t>
            </a:r>
          </a:p>
        </p:txBody>
      </p:sp>
      <p:sp>
        <p:nvSpPr>
          <p:cNvPr id="24" name="TextBox 23"/>
          <p:cNvSpPr txBox="1"/>
          <p:nvPr/>
        </p:nvSpPr>
        <p:spPr>
          <a:xfrm>
            <a:off x="8412480" y="5230368"/>
            <a:ext cx="2834640" cy="585216"/>
          </a:xfrm>
          <a:prstGeom prst="rect">
            <a:avLst/>
          </a:prstGeom>
          <a:noFill/>
        </p:spPr>
        <p:txBody>
          <a:bodyPr wrap="square" lIns="0" rIns="0" tIns="0" bIns="0">
            <a:noAutofit/>
          </a:bodyPr>
          <a:lstStyle/>
          <a:p>
            <a:pPr>
              <a:spcAft>
                <a:spcPts val="700"/>
              </a:spcAft>
              <a:defRPr sz="1300" b="0">
                <a:solidFill>
                  <a:srgbClr val="637583"/>
                </a:solidFill>
                <a:latin typeface="맑은 고딕"/>
              </a:defRPr>
            </a:pPr>
            <a:r>
              <a:t>방문·이동·대기를 순서대로</a:t>
            </a:r>
          </a:p>
          <a:p>
            <a:pPr>
              <a:spcAft>
                <a:spcPts val="700"/>
              </a:spcAft>
              <a:defRPr sz="1300" b="0">
                <a:solidFill>
                  <a:srgbClr val="637583"/>
                </a:solidFill>
                <a:latin typeface="맑은 고딕"/>
              </a:defRPr>
            </a:pPr>
            <a:r>
              <a:t>초록 체크로 확인된 이유 표시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320040"/>
            <a:ext cx="347472" cy="347472"/>
          </a:xfrm>
          <a:prstGeom prst="roundRect">
            <a:avLst>
              <a:gd name="adj" fmla="val 12000"/>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66928" y="356616"/>
            <a:ext cx="228600" cy="228600"/>
          </a:xfrm>
          <a:prstGeom prst="rect">
            <a:avLst/>
          </a:prstGeom>
          <a:noFill/>
        </p:spPr>
        <p:txBody>
          <a:bodyPr wrap="square" lIns="0" rIns="0" tIns="0" bIns="0">
            <a:noAutofit/>
          </a:bodyPr>
          <a:lstStyle/>
          <a:p>
            <a:pPr>
              <a:spcAft>
                <a:spcPts val="700"/>
              </a:spcAft>
              <a:defRPr sz="1200" b="1">
                <a:solidFill>
                  <a:srgbClr val="FFFFFF"/>
                </a:solidFill>
                <a:latin typeface="맑은 고딕"/>
              </a:defRPr>
            </a:pPr>
            <a:r>
              <a:t>의</a:t>
            </a:r>
          </a:p>
        </p:txBody>
      </p:sp>
      <p:sp>
        <p:nvSpPr>
          <p:cNvPr id="4" name="TextBox 3"/>
          <p:cNvSpPr txBox="1"/>
          <p:nvPr/>
        </p:nvSpPr>
        <p:spPr>
          <a:xfrm>
            <a:off x="960120" y="347472"/>
            <a:ext cx="4572000" cy="274320"/>
          </a:xfrm>
          <a:prstGeom prst="rect">
            <a:avLst/>
          </a:prstGeom>
          <a:noFill/>
        </p:spPr>
        <p:txBody>
          <a:bodyPr wrap="square" lIns="0" rIns="0" tIns="0" bIns="0">
            <a:noAutofit/>
          </a:bodyPr>
          <a:lstStyle/>
          <a:p>
            <a:pPr>
              <a:spcAft>
                <a:spcPts val="700"/>
              </a:spcAft>
              <a:defRPr sz="1200" b="1">
                <a:solidFill>
                  <a:srgbClr val="356B51"/>
                </a:solidFill>
                <a:latin typeface="맑은 고딕"/>
              </a:defRPr>
            </a:pPr>
            <a:r>
              <a:t>의동이 PICK  |  바이브코딩 대회</a:t>
            </a:r>
          </a:p>
        </p:txBody>
      </p:sp>
      <p:sp>
        <p:nvSpPr>
          <p:cNvPr id="5" name="TextBox 4"/>
          <p:cNvSpPr txBox="1"/>
          <p:nvPr/>
        </p:nvSpPr>
        <p:spPr>
          <a:xfrm>
            <a:off x="9418320" y="347472"/>
            <a:ext cx="2286000" cy="274320"/>
          </a:xfrm>
          <a:prstGeom prst="rect">
            <a:avLst/>
          </a:prstGeom>
          <a:noFill/>
        </p:spPr>
        <p:txBody>
          <a:bodyPr wrap="square" lIns="0" rIns="0" tIns="0" bIns="0">
            <a:noAutofit/>
          </a:bodyPr>
          <a:lstStyle/>
          <a:p>
            <a:pPr>
              <a:spcAft>
                <a:spcPts val="700"/>
              </a:spcAft>
              <a:defRPr sz="1200" b="0">
                <a:solidFill>
                  <a:srgbClr val="637583"/>
                </a:solidFill>
                <a:latin typeface="맑은 고딕"/>
              </a:defRPr>
            </a:pPr>
            <a:r>
              <a:t>03  CSV 데이터 활용</a:t>
            </a:r>
          </a:p>
        </p:txBody>
      </p:sp>
      <p:sp>
        <p:nvSpPr>
          <p:cNvPr id="6" name="TextBox 5"/>
          <p:cNvSpPr txBox="1"/>
          <p:nvPr/>
        </p:nvSpPr>
        <p:spPr>
          <a:xfrm>
            <a:off x="566928" y="932688"/>
            <a:ext cx="11018520" cy="621792"/>
          </a:xfrm>
          <a:prstGeom prst="rect">
            <a:avLst/>
          </a:prstGeom>
          <a:noFill/>
        </p:spPr>
        <p:txBody>
          <a:bodyPr wrap="square" lIns="0" rIns="0" tIns="0" bIns="0">
            <a:noAutofit/>
          </a:bodyPr>
          <a:lstStyle/>
          <a:p>
            <a:pPr>
              <a:spcAft>
                <a:spcPts val="700"/>
              </a:spcAft>
              <a:defRPr sz="2900" b="1">
                <a:solidFill>
                  <a:srgbClr val="19374A"/>
                </a:solidFill>
                <a:latin typeface="맑은 고딕"/>
              </a:defRPr>
            </a:pPr>
            <a:r>
              <a:t>파일로 관리하고, 검색 결과로 시각화합니다</a:t>
            </a:r>
          </a:p>
        </p:txBody>
      </p:sp>
      <p:sp>
        <p:nvSpPr>
          <p:cNvPr id="7" name="TextBox 6"/>
          <p:cNvSpPr txBox="1"/>
          <p:nvPr/>
        </p:nvSpPr>
        <p:spPr>
          <a:xfrm>
            <a:off x="594360" y="1691640"/>
            <a:ext cx="10972800" cy="484632"/>
          </a:xfrm>
          <a:prstGeom prst="rect">
            <a:avLst/>
          </a:prstGeom>
          <a:noFill/>
        </p:spPr>
        <p:txBody>
          <a:bodyPr wrap="square" lIns="0" rIns="0" tIns="0" bIns="0">
            <a:noAutofit/>
          </a:bodyPr>
          <a:lstStyle/>
          <a:p>
            <a:pPr>
              <a:spcAft>
                <a:spcPts val="700"/>
              </a:spcAft>
              <a:defRPr sz="1500" b="0">
                <a:solidFill>
                  <a:srgbClr val="637583"/>
                </a:solidFill>
                <a:latin typeface="맑은 고딕"/>
              </a:defRPr>
            </a:pPr>
            <a:r>
              <a:t>CSV 원본 보존 · 한글 UTF-8 BOM 확인 · 실행 시 외부 데이터베이스 연결 없음</a:t>
            </a:r>
          </a:p>
        </p:txBody>
      </p:sp>
      <p:sp>
        <p:nvSpPr>
          <p:cNvPr id="8" name="Rectangle 7"/>
          <p:cNvSpPr/>
          <p:nvPr/>
        </p:nvSpPr>
        <p:spPr>
          <a:xfrm>
            <a:off x="566928" y="6419088"/>
            <a:ext cx="11036808" cy="13716"/>
          </a:xfrm>
          <a:prstGeom prst="rect">
            <a:avLst/>
          </a:prstGeom>
          <a:solidFill>
            <a:srgbClr val="DCE4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94360" y="6519672"/>
            <a:ext cx="9875520" cy="182880"/>
          </a:xfrm>
          <a:prstGeom prst="rect">
            <a:avLst/>
          </a:prstGeom>
          <a:noFill/>
        </p:spPr>
        <p:txBody>
          <a:bodyPr wrap="square" lIns="0" rIns="0" tIns="0" bIns="0">
            <a:noAutofit/>
          </a:bodyPr>
          <a:lstStyle/>
          <a:p>
            <a:pPr>
              <a:spcAft>
                <a:spcPts val="700"/>
              </a:spcAft>
              <a:defRPr sz="900" b="0">
                <a:solidFill>
                  <a:srgbClr val="637583"/>
                </a:solidFill>
                <a:latin typeface="맑은 고딕"/>
              </a:defRPr>
            </a:pPr>
            <a:r>
              <a:t>CSV 기반 오프라인 체험판 · 가상/미검증 자료 포함 · 의성군 공식 서비스 아님</a:t>
            </a:r>
          </a:p>
        </p:txBody>
      </p:sp>
      <p:sp>
        <p:nvSpPr>
          <p:cNvPr id="10" name="TextBox 9"/>
          <p:cNvSpPr txBox="1"/>
          <p:nvPr/>
        </p:nvSpPr>
        <p:spPr>
          <a:xfrm>
            <a:off x="10789920" y="6483096"/>
            <a:ext cx="822960" cy="256032"/>
          </a:xfrm>
          <a:prstGeom prst="rect">
            <a:avLst/>
          </a:prstGeom>
          <a:noFill/>
        </p:spPr>
        <p:txBody>
          <a:bodyPr wrap="square" lIns="0" rIns="0" tIns="0" bIns="0">
            <a:noAutofit/>
          </a:bodyPr>
          <a:lstStyle/>
          <a:p>
            <a:pPr>
              <a:spcAft>
                <a:spcPts val="700"/>
              </a:spcAft>
              <a:defRPr sz="1100" b="1">
                <a:solidFill>
                  <a:srgbClr val="356B51"/>
                </a:solidFill>
                <a:latin typeface="맑은 고딕"/>
              </a:defRPr>
            </a:pPr>
            <a:r>
              <a:t>03 / 05</a:t>
            </a:r>
          </a:p>
        </p:txBody>
      </p:sp>
      <p:sp>
        <p:nvSpPr>
          <p:cNvPr id="11" name="Rounded Rectangle 10"/>
          <p:cNvSpPr/>
          <p:nvPr/>
        </p:nvSpPr>
        <p:spPr>
          <a:xfrm>
            <a:off x="640080" y="2423160"/>
            <a:ext cx="2029968" cy="1005840"/>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04671" y="2542032"/>
            <a:ext cx="1737360" cy="420624"/>
          </a:xfrm>
          <a:prstGeom prst="rect">
            <a:avLst/>
          </a:prstGeom>
          <a:noFill/>
        </p:spPr>
        <p:txBody>
          <a:bodyPr wrap="square" lIns="0" rIns="0" tIns="0" bIns="0">
            <a:noAutofit/>
          </a:bodyPr>
          <a:lstStyle/>
          <a:p>
            <a:pPr>
              <a:spcAft>
                <a:spcPts val="700"/>
              </a:spcAft>
              <a:defRPr sz="2500" b="1">
                <a:solidFill>
                  <a:srgbClr val="356B51"/>
                </a:solidFill>
                <a:latin typeface="맑은 고딕"/>
              </a:defRPr>
            </a:pPr>
            <a:r>
              <a:t>35곳</a:t>
            </a:r>
          </a:p>
        </p:txBody>
      </p:sp>
      <p:sp>
        <p:nvSpPr>
          <p:cNvPr id="13" name="TextBox 12"/>
          <p:cNvSpPr txBox="1"/>
          <p:nvPr/>
        </p:nvSpPr>
        <p:spPr>
          <a:xfrm>
            <a:off x="804671" y="3072384"/>
            <a:ext cx="1783080" cy="210312"/>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관광 조사 후보 / 별도 JSON</a:t>
            </a:r>
          </a:p>
        </p:txBody>
      </p:sp>
      <p:sp>
        <p:nvSpPr>
          <p:cNvPr id="14" name="Rounded Rectangle 13"/>
          <p:cNvSpPr/>
          <p:nvPr/>
        </p:nvSpPr>
        <p:spPr>
          <a:xfrm>
            <a:off x="2898648" y="2423160"/>
            <a:ext cx="2029968" cy="1005840"/>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063240" y="2542032"/>
            <a:ext cx="1737360" cy="420624"/>
          </a:xfrm>
          <a:prstGeom prst="rect">
            <a:avLst/>
          </a:prstGeom>
          <a:noFill/>
        </p:spPr>
        <p:txBody>
          <a:bodyPr wrap="square" lIns="0" rIns="0" tIns="0" bIns="0">
            <a:noAutofit/>
          </a:bodyPr>
          <a:lstStyle/>
          <a:p>
            <a:pPr>
              <a:spcAft>
                <a:spcPts val="700"/>
              </a:spcAft>
              <a:defRPr sz="2500" b="1">
                <a:solidFill>
                  <a:srgbClr val="356B51"/>
                </a:solidFill>
                <a:latin typeface="맑은 고딕"/>
              </a:defRPr>
            </a:pPr>
            <a:r>
              <a:t>18곳</a:t>
            </a:r>
          </a:p>
        </p:txBody>
      </p:sp>
      <p:sp>
        <p:nvSpPr>
          <p:cNvPr id="16" name="TextBox 15"/>
          <p:cNvSpPr txBox="1"/>
          <p:nvPr/>
        </p:nvSpPr>
        <p:spPr>
          <a:xfrm>
            <a:off x="3063240" y="3072384"/>
            <a:ext cx="1783080" cy="210312"/>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가상 맛집 / CSV</a:t>
            </a:r>
          </a:p>
        </p:txBody>
      </p:sp>
      <p:sp>
        <p:nvSpPr>
          <p:cNvPr id="17" name="Rounded Rectangle 16"/>
          <p:cNvSpPr/>
          <p:nvPr/>
        </p:nvSpPr>
        <p:spPr>
          <a:xfrm>
            <a:off x="5157216" y="2423160"/>
            <a:ext cx="2029968" cy="1005840"/>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321807" y="2542032"/>
            <a:ext cx="1737360" cy="420624"/>
          </a:xfrm>
          <a:prstGeom prst="rect">
            <a:avLst/>
          </a:prstGeom>
          <a:noFill/>
        </p:spPr>
        <p:txBody>
          <a:bodyPr wrap="square" lIns="0" rIns="0" tIns="0" bIns="0">
            <a:noAutofit/>
          </a:bodyPr>
          <a:lstStyle/>
          <a:p>
            <a:pPr>
              <a:spcAft>
                <a:spcPts val="700"/>
              </a:spcAft>
              <a:defRPr sz="2500" b="1">
                <a:solidFill>
                  <a:srgbClr val="356B51"/>
                </a:solidFill>
                <a:latin typeface="맑은 고딕"/>
              </a:defRPr>
            </a:pPr>
            <a:r>
              <a:t>12곳</a:t>
            </a:r>
          </a:p>
        </p:txBody>
      </p:sp>
      <p:sp>
        <p:nvSpPr>
          <p:cNvPr id="19" name="TextBox 18"/>
          <p:cNvSpPr txBox="1"/>
          <p:nvPr/>
        </p:nvSpPr>
        <p:spPr>
          <a:xfrm>
            <a:off x="5321807" y="3072384"/>
            <a:ext cx="1783080" cy="210312"/>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가상 카페 / CSV</a:t>
            </a:r>
          </a:p>
        </p:txBody>
      </p:sp>
      <p:sp>
        <p:nvSpPr>
          <p:cNvPr id="20" name="Rounded Rectangle 19"/>
          <p:cNvSpPr/>
          <p:nvPr/>
        </p:nvSpPr>
        <p:spPr>
          <a:xfrm>
            <a:off x="7635240" y="2423160"/>
            <a:ext cx="3886200" cy="1005840"/>
          </a:xfrm>
          <a:prstGeom prst="roundRect">
            <a:avLst>
              <a:gd name="adj" fmla="val 12000"/>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845552" y="2587752"/>
            <a:ext cx="3520440" cy="731520"/>
          </a:xfrm>
          <a:prstGeom prst="rect">
            <a:avLst/>
          </a:prstGeom>
          <a:noFill/>
        </p:spPr>
        <p:txBody>
          <a:bodyPr wrap="square" lIns="0" rIns="0" tIns="0" bIns="0">
            <a:noAutofit/>
          </a:bodyPr>
          <a:lstStyle/>
          <a:p>
            <a:pPr>
              <a:spcAft>
                <a:spcPts val="700"/>
              </a:spcAft>
              <a:defRPr sz="1500" b="1">
                <a:solidFill>
                  <a:srgbClr val="356B51"/>
                </a:solidFill>
                <a:latin typeface="맑은 고딕"/>
              </a:defRPr>
            </a:pPr>
            <a:r>
              <a:t>가상 업소 CSV 30행 · 24필드</a:t>
            </a:r>
          </a:p>
          <a:p>
            <a:pPr>
              <a:spcAft>
                <a:spcPts val="700"/>
              </a:spcAft>
              <a:defRPr sz="1500" b="1">
                <a:solidFill>
                  <a:srgbClr val="356B51"/>
                </a:solidFill>
                <a:latin typeface="맑은 고딕"/>
              </a:defRPr>
            </a:pPr>
            <a:r>
              <a:t>메뉴·예산·체류·영업·휴무 등</a:t>
            </a:r>
          </a:p>
        </p:txBody>
      </p:sp>
      <p:sp>
        <p:nvSpPr>
          <p:cNvPr id="22" name="TextBox 21"/>
          <p:cNvSpPr txBox="1"/>
          <p:nvPr/>
        </p:nvSpPr>
        <p:spPr>
          <a:xfrm>
            <a:off x="685800" y="3685032"/>
            <a:ext cx="10881360" cy="393192"/>
          </a:xfrm>
          <a:prstGeom prst="rect">
            <a:avLst/>
          </a:prstGeom>
          <a:noFill/>
        </p:spPr>
        <p:txBody>
          <a:bodyPr wrap="square" lIns="0" rIns="0" tIns="0" bIns="0">
            <a:noAutofit/>
          </a:bodyPr>
          <a:lstStyle/>
          <a:p>
            <a:pPr>
              <a:spcAft>
                <a:spcPts val="700"/>
              </a:spcAft>
              <a:defRPr sz="1800" b="1">
                <a:solidFill>
                  <a:srgbClr val="19374A"/>
                </a:solidFill>
                <a:latin typeface="맑은 고딕"/>
              </a:defRPr>
            </a:pPr>
            <a:r>
              <a:t>가상 업소 CSV → JSON 변환·검사 → JavaScript 내장 → 검색·필터·차트·일정</a:t>
            </a:r>
          </a:p>
        </p:txBody>
      </p:sp>
      <p:sp>
        <p:nvSpPr>
          <p:cNvPr id="23" name="Rounded Rectangle 22"/>
          <p:cNvSpPr/>
          <p:nvPr/>
        </p:nvSpPr>
        <p:spPr>
          <a:xfrm>
            <a:off x="685800" y="4206240"/>
            <a:ext cx="3493008" cy="1572768"/>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32104" y="4325112"/>
            <a:ext cx="3200400" cy="228600"/>
          </a:xfrm>
          <a:prstGeom prst="rect">
            <a:avLst/>
          </a:prstGeom>
          <a:noFill/>
        </p:spPr>
        <p:txBody>
          <a:bodyPr wrap="square" lIns="0" rIns="0" tIns="0" bIns="0">
            <a:noAutofit/>
          </a:bodyPr>
          <a:lstStyle/>
          <a:p>
            <a:pPr>
              <a:spcAft>
                <a:spcPts val="700"/>
              </a:spcAft>
              <a:defRPr sz="1200" b="1">
                <a:solidFill>
                  <a:srgbClr val="356B51"/>
                </a:solidFill>
                <a:latin typeface="맑은 고딕"/>
              </a:defRPr>
            </a:pPr>
            <a:r>
              <a:t>자료 분류</a:t>
            </a:r>
          </a:p>
        </p:txBody>
      </p:sp>
      <p:sp>
        <p:nvSpPr>
          <p:cNvPr id="25" name="TextBox 24"/>
          <p:cNvSpPr txBox="1"/>
          <p:nvPr/>
        </p:nvSpPr>
        <p:spPr>
          <a:xfrm>
            <a:off x="832104" y="4690872"/>
            <a:ext cx="1508760" cy="182880"/>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관광 조사 후보</a:t>
            </a:r>
          </a:p>
        </p:txBody>
      </p:sp>
      <p:sp>
        <p:nvSpPr>
          <p:cNvPr id="26" name="Rectangle 25"/>
          <p:cNvSpPr/>
          <p:nvPr/>
        </p:nvSpPr>
        <p:spPr>
          <a:xfrm>
            <a:off x="2404872" y="4741164"/>
            <a:ext cx="1161288" cy="64008"/>
          </a:xfrm>
          <a:prstGeom prst="rect">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2404872" y="4741164"/>
            <a:ext cx="1161288" cy="64008"/>
          </a:xfrm>
          <a:prstGeom prst="rect">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685031" y="4677156"/>
            <a:ext cx="384048" cy="210312"/>
          </a:xfrm>
          <a:prstGeom prst="rect">
            <a:avLst/>
          </a:prstGeom>
          <a:noFill/>
        </p:spPr>
        <p:txBody>
          <a:bodyPr wrap="square" lIns="0" rIns="0" tIns="0" bIns="0">
            <a:noAutofit/>
          </a:bodyPr>
          <a:lstStyle/>
          <a:p>
            <a:pPr>
              <a:spcAft>
                <a:spcPts val="700"/>
              </a:spcAft>
              <a:defRPr sz="1100" b="1">
                <a:solidFill>
                  <a:srgbClr val="19374A"/>
                </a:solidFill>
                <a:latin typeface="맑은 고딕"/>
              </a:defRPr>
            </a:pPr>
            <a:r>
              <a:t>35</a:t>
            </a:r>
          </a:p>
        </p:txBody>
      </p:sp>
      <p:sp>
        <p:nvSpPr>
          <p:cNvPr id="29" name="TextBox 28"/>
          <p:cNvSpPr txBox="1"/>
          <p:nvPr/>
        </p:nvSpPr>
        <p:spPr>
          <a:xfrm>
            <a:off x="832104" y="4924044"/>
            <a:ext cx="1508760" cy="182880"/>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가상 맛집</a:t>
            </a:r>
          </a:p>
        </p:txBody>
      </p:sp>
      <p:sp>
        <p:nvSpPr>
          <p:cNvPr id="30" name="Rectangle 29"/>
          <p:cNvSpPr/>
          <p:nvPr/>
        </p:nvSpPr>
        <p:spPr>
          <a:xfrm>
            <a:off x="2404872" y="4974336"/>
            <a:ext cx="1161288" cy="64008"/>
          </a:xfrm>
          <a:prstGeom prst="rect">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2404872" y="4974336"/>
            <a:ext cx="597233" cy="64008"/>
          </a:xfrm>
          <a:prstGeom prst="rect">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3685031" y="4910328"/>
            <a:ext cx="384048" cy="210312"/>
          </a:xfrm>
          <a:prstGeom prst="rect">
            <a:avLst/>
          </a:prstGeom>
          <a:noFill/>
        </p:spPr>
        <p:txBody>
          <a:bodyPr wrap="square" lIns="0" rIns="0" tIns="0" bIns="0">
            <a:noAutofit/>
          </a:bodyPr>
          <a:lstStyle/>
          <a:p>
            <a:pPr>
              <a:spcAft>
                <a:spcPts val="700"/>
              </a:spcAft>
              <a:defRPr sz="1100" b="1">
                <a:solidFill>
                  <a:srgbClr val="19374A"/>
                </a:solidFill>
                <a:latin typeface="맑은 고딕"/>
              </a:defRPr>
            </a:pPr>
            <a:r>
              <a:t>18</a:t>
            </a:r>
          </a:p>
        </p:txBody>
      </p:sp>
      <p:sp>
        <p:nvSpPr>
          <p:cNvPr id="33" name="TextBox 32"/>
          <p:cNvSpPr txBox="1"/>
          <p:nvPr/>
        </p:nvSpPr>
        <p:spPr>
          <a:xfrm>
            <a:off x="832104" y="5157216"/>
            <a:ext cx="1508760" cy="182880"/>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가상 카페</a:t>
            </a:r>
          </a:p>
        </p:txBody>
      </p:sp>
      <p:sp>
        <p:nvSpPr>
          <p:cNvPr id="34" name="Rectangle 33"/>
          <p:cNvSpPr/>
          <p:nvPr/>
        </p:nvSpPr>
        <p:spPr>
          <a:xfrm>
            <a:off x="2404872" y="5207507"/>
            <a:ext cx="1161288" cy="64008"/>
          </a:xfrm>
          <a:prstGeom prst="rect">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2404872" y="5207507"/>
            <a:ext cx="398155" cy="64008"/>
          </a:xfrm>
          <a:prstGeom prst="rect">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3685031" y="5143500"/>
            <a:ext cx="384048" cy="210312"/>
          </a:xfrm>
          <a:prstGeom prst="rect">
            <a:avLst/>
          </a:prstGeom>
          <a:noFill/>
        </p:spPr>
        <p:txBody>
          <a:bodyPr wrap="square" lIns="0" rIns="0" tIns="0" bIns="0">
            <a:noAutofit/>
          </a:bodyPr>
          <a:lstStyle/>
          <a:p>
            <a:pPr>
              <a:spcAft>
                <a:spcPts val="700"/>
              </a:spcAft>
              <a:defRPr sz="1100" b="1">
                <a:solidFill>
                  <a:srgbClr val="19374A"/>
                </a:solidFill>
                <a:latin typeface="맑은 고딕"/>
              </a:defRPr>
            </a:pPr>
            <a:r>
              <a:t>12</a:t>
            </a:r>
          </a:p>
        </p:txBody>
      </p:sp>
      <p:sp>
        <p:nvSpPr>
          <p:cNvPr id="37" name="Rounded Rectangle 36"/>
          <p:cNvSpPr/>
          <p:nvPr/>
        </p:nvSpPr>
        <p:spPr>
          <a:xfrm>
            <a:off x="4389120" y="4206240"/>
            <a:ext cx="3493008" cy="1572768"/>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535424" y="4325112"/>
            <a:ext cx="3200400" cy="228600"/>
          </a:xfrm>
          <a:prstGeom prst="rect">
            <a:avLst/>
          </a:prstGeom>
          <a:noFill/>
        </p:spPr>
        <p:txBody>
          <a:bodyPr wrap="square" lIns="0" rIns="0" tIns="0" bIns="0">
            <a:noAutofit/>
          </a:bodyPr>
          <a:lstStyle/>
          <a:p>
            <a:pPr>
              <a:spcAft>
                <a:spcPts val="700"/>
              </a:spcAft>
              <a:defRPr sz="1200" b="1">
                <a:solidFill>
                  <a:srgbClr val="356B51"/>
                </a:solidFill>
                <a:latin typeface="맑은 고딕"/>
              </a:defRPr>
            </a:pPr>
            <a:r>
              <a:t>권역별 레코드</a:t>
            </a:r>
          </a:p>
        </p:txBody>
      </p:sp>
      <p:sp>
        <p:nvSpPr>
          <p:cNvPr id="39" name="TextBox 38"/>
          <p:cNvSpPr txBox="1"/>
          <p:nvPr/>
        </p:nvSpPr>
        <p:spPr>
          <a:xfrm>
            <a:off x="4535424" y="4690872"/>
            <a:ext cx="1508760" cy="182880"/>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의성·봉양·안평</a:t>
            </a:r>
          </a:p>
        </p:txBody>
      </p:sp>
      <p:sp>
        <p:nvSpPr>
          <p:cNvPr id="40" name="Rectangle 39"/>
          <p:cNvSpPr/>
          <p:nvPr/>
        </p:nvSpPr>
        <p:spPr>
          <a:xfrm>
            <a:off x="6108192" y="4741164"/>
            <a:ext cx="1161288" cy="64008"/>
          </a:xfrm>
          <a:prstGeom prst="rect">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6108192" y="4741164"/>
            <a:ext cx="794565" cy="64008"/>
          </a:xfrm>
          <a:prstGeom prst="rect">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7388352" y="4677156"/>
            <a:ext cx="384048" cy="210312"/>
          </a:xfrm>
          <a:prstGeom prst="rect">
            <a:avLst/>
          </a:prstGeom>
          <a:noFill/>
        </p:spPr>
        <p:txBody>
          <a:bodyPr wrap="square" lIns="0" rIns="0" tIns="0" bIns="0">
            <a:noAutofit/>
          </a:bodyPr>
          <a:lstStyle/>
          <a:p>
            <a:pPr>
              <a:spcAft>
                <a:spcPts val="700"/>
              </a:spcAft>
              <a:defRPr sz="1100" b="1">
                <a:solidFill>
                  <a:srgbClr val="19374A"/>
                </a:solidFill>
                <a:latin typeface="맑은 고딕"/>
              </a:defRPr>
            </a:pPr>
            <a:r>
              <a:t>13</a:t>
            </a:r>
          </a:p>
        </p:txBody>
      </p:sp>
      <p:sp>
        <p:nvSpPr>
          <p:cNvPr id="43" name="TextBox 42"/>
          <p:cNvSpPr txBox="1"/>
          <p:nvPr/>
        </p:nvSpPr>
        <p:spPr>
          <a:xfrm>
            <a:off x="4535424" y="4924044"/>
            <a:ext cx="1508760" cy="182880"/>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금성·가음·춘산</a:t>
            </a:r>
          </a:p>
        </p:txBody>
      </p:sp>
      <p:sp>
        <p:nvSpPr>
          <p:cNvPr id="44" name="Rectangle 43"/>
          <p:cNvSpPr/>
          <p:nvPr/>
        </p:nvSpPr>
        <p:spPr>
          <a:xfrm>
            <a:off x="6108192" y="4974336"/>
            <a:ext cx="1161288" cy="64008"/>
          </a:xfrm>
          <a:prstGeom prst="rect">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ectangle 44"/>
          <p:cNvSpPr/>
          <p:nvPr/>
        </p:nvSpPr>
        <p:spPr>
          <a:xfrm>
            <a:off x="6108192" y="4974336"/>
            <a:ext cx="1161288" cy="64008"/>
          </a:xfrm>
          <a:prstGeom prst="rect">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7388352" y="4910328"/>
            <a:ext cx="384048" cy="210312"/>
          </a:xfrm>
          <a:prstGeom prst="rect">
            <a:avLst/>
          </a:prstGeom>
          <a:noFill/>
        </p:spPr>
        <p:txBody>
          <a:bodyPr wrap="square" lIns="0" rIns="0" tIns="0" bIns="0">
            <a:noAutofit/>
          </a:bodyPr>
          <a:lstStyle/>
          <a:p>
            <a:pPr>
              <a:spcAft>
                <a:spcPts val="700"/>
              </a:spcAft>
              <a:defRPr sz="1100" b="1">
                <a:solidFill>
                  <a:srgbClr val="19374A"/>
                </a:solidFill>
                <a:latin typeface="맑은 고딕"/>
              </a:defRPr>
            </a:pPr>
            <a:r>
              <a:t>19</a:t>
            </a:r>
          </a:p>
        </p:txBody>
      </p:sp>
      <p:sp>
        <p:nvSpPr>
          <p:cNvPr id="47" name="TextBox 46"/>
          <p:cNvSpPr txBox="1"/>
          <p:nvPr/>
        </p:nvSpPr>
        <p:spPr>
          <a:xfrm>
            <a:off x="4535424" y="5157216"/>
            <a:ext cx="1508760" cy="182880"/>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단촌·점곡·옥산</a:t>
            </a:r>
          </a:p>
        </p:txBody>
      </p:sp>
      <p:sp>
        <p:nvSpPr>
          <p:cNvPr id="48" name="Rectangle 47"/>
          <p:cNvSpPr/>
          <p:nvPr/>
        </p:nvSpPr>
        <p:spPr>
          <a:xfrm>
            <a:off x="6108192" y="5207507"/>
            <a:ext cx="1161288" cy="64008"/>
          </a:xfrm>
          <a:prstGeom prst="rect">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ectangle 48"/>
          <p:cNvSpPr/>
          <p:nvPr/>
        </p:nvSpPr>
        <p:spPr>
          <a:xfrm>
            <a:off x="6108192" y="5207507"/>
            <a:ext cx="855685" cy="64008"/>
          </a:xfrm>
          <a:prstGeom prst="rect">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7388352" y="5143500"/>
            <a:ext cx="384048" cy="210312"/>
          </a:xfrm>
          <a:prstGeom prst="rect">
            <a:avLst/>
          </a:prstGeom>
          <a:noFill/>
        </p:spPr>
        <p:txBody>
          <a:bodyPr wrap="square" lIns="0" rIns="0" tIns="0" bIns="0">
            <a:noAutofit/>
          </a:bodyPr>
          <a:lstStyle/>
          <a:p>
            <a:pPr>
              <a:spcAft>
                <a:spcPts val="700"/>
              </a:spcAft>
              <a:defRPr sz="1100" b="1">
                <a:solidFill>
                  <a:srgbClr val="19374A"/>
                </a:solidFill>
                <a:latin typeface="맑은 고딕"/>
              </a:defRPr>
            </a:pPr>
            <a:r>
              <a:t>14</a:t>
            </a:r>
          </a:p>
        </p:txBody>
      </p:sp>
      <p:sp>
        <p:nvSpPr>
          <p:cNvPr id="51" name="TextBox 50"/>
          <p:cNvSpPr txBox="1"/>
          <p:nvPr/>
        </p:nvSpPr>
        <p:spPr>
          <a:xfrm>
            <a:off x="4535424" y="5390388"/>
            <a:ext cx="1508760" cy="182880"/>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안계·비안·다인</a:t>
            </a:r>
          </a:p>
        </p:txBody>
      </p:sp>
      <p:sp>
        <p:nvSpPr>
          <p:cNvPr id="52" name="Rectangle 51"/>
          <p:cNvSpPr/>
          <p:nvPr/>
        </p:nvSpPr>
        <p:spPr>
          <a:xfrm>
            <a:off x="6108192" y="5440679"/>
            <a:ext cx="1161288" cy="64008"/>
          </a:xfrm>
          <a:prstGeom prst="rect">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ectangle 52"/>
          <p:cNvSpPr/>
          <p:nvPr/>
        </p:nvSpPr>
        <p:spPr>
          <a:xfrm>
            <a:off x="6108192" y="5440679"/>
            <a:ext cx="1161288" cy="64008"/>
          </a:xfrm>
          <a:prstGeom prst="rect">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7388352" y="5376672"/>
            <a:ext cx="384048" cy="210312"/>
          </a:xfrm>
          <a:prstGeom prst="rect">
            <a:avLst/>
          </a:prstGeom>
          <a:noFill/>
        </p:spPr>
        <p:txBody>
          <a:bodyPr wrap="square" lIns="0" rIns="0" tIns="0" bIns="0">
            <a:noAutofit/>
          </a:bodyPr>
          <a:lstStyle/>
          <a:p>
            <a:pPr>
              <a:spcAft>
                <a:spcPts val="700"/>
              </a:spcAft>
              <a:defRPr sz="1100" b="1">
                <a:solidFill>
                  <a:srgbClr val="19374A"/>
                </a:solidFill>
                <a:latin typeface="맑은 고딕"/>
              </a:defRPr>
            </a:pPr>
            <a:r>
              <a:t>19</a:t>
            </a:r>
          </a:p>
        </p:txBody>
      </p:sp>
      <p:sp>
        <p:nvSpPr>
          <p:cNvPr id="55" name="Rounded Rectangle 54"/>
          <p:cNvSpPr/>
          <p:nvPr/>
        </p:nvSpPr>
        <p:spPr>
          <a:xfrm>
            <a:off x="8092440" y="4206240"/>
            <a:ext cx="3493008" cy="1572768"/>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8238744" y="4325112"/>
            <a:ext cx="3200400" cy="228600"/>
          </a:xfrm>
          <a:prstGeom prst="rect">
            <a:avLst/>
          </a:prstGeom>
          <a:noFill/>
        </p:spPr>
        <p:txBody>
          <a:bodyPr wrap="square" lIns="0" rIns="0" tIns="0" bIns="0">
            <a:noAutofit/>
          </a:bodyPr>
          <a:lstStyle/>
          <a:p>
            <a:pPr>
              <a:spcAft>
                <a:spcPts val="700"/>
              </a:spcAft>
              <a:defRPr sz="1200" b="1">
                <a:solidFill>
                  <a:srgbClr val="356B51"/>
                </a:solidFill>
                <a:latin typeface="맑은 고딕"/>
              </a:defRPr>
            </a:pPr>
            <a:r>
              <a:t>가상 업소 1인 예산</a:t>
            </a:r>
          </a:p>
        </p:txBody>
      </p:sp>
      <p:sp>
        <p:nvSpPr>
          <p:cNvPr id="57" name="TextBox 56"/>
          <p:cNvSpPr txBox="1"/>
          <p:nvPr/>
        </p:nvSpPr>
        <p:spPr>
          <a:xfrm>
            <a:off x="8238744" y="4690872"/>
            <a:ext cx="1508760" cy="182880"/>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1만원 이하</a:t>
            </a:r>
          </a:p>
        </p:txBody>
      </p:sp>
      <p:sp>
        <p:nvSpPr>
          <p:cNvPr id="58" name="Rectangle 57"/>
          <p:cNvSpPr/>
          <p:nvPr/>
        </p:nvSpPr>
        <p:spPr>
          <a:xfrm>
            <a:off x="9811512" y="4741164"/>
            <a:ext cx="1161288" cy="64008"/>
          </a:xfrm>
          <a:prstGeom prst="rect">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ectangle 58"/>
          <p:cNvSpPr/>
          <p:nvPr/>
        </p:nvSpPr>
        <p:spPr>
          <a:xfrm>
            <a:off x="9811512" y="4741164"/>
            <a:ext cx="478177" cy="64008"/>
          </a:xfrm>
          <a:prstGeom prst="rect">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11091672" y="4677156"/>
            <a:ext cx="384048" cy="210312"/>
          </a:xfrm>
          <a:prstGeom prst="rect">
            <a:avLst/>
          </a:prstGeom>
          <a:noFill/>
        </p:spPr>
        <p:txBody>
          <a:bodyPr wrap="square" lIns="0" rIns="0" tIns="0" bIns="0">
            <a:noAutofit/>
          </a:bodyPr>
          <a:lstStyle/>
          <a:p>
            <a:pPr>
              <a:spcAft>
                <a:spcPts val="700"/>
              </a:spcAft>
              <a:defRPr sz="1100" b="1">
                <a:solidFill>
                  <a:srgbClr val="19374A"/>
                </a:solidFill>
                <a:latin typeface="맑은 고딕"/>
              </a:defRPr>
            </a:pPr>
            <a:r>
              <a:t>7</a:t>
            </a:r>
          </a:p>
        </p:txBody>
      </p:sp>
      <p:sp>
        <p:nvSpPr>
          <p:cNvPr id="61" name="TextBox 60"/>
          <p:cNvSpPr txBox="1"/>
          <p:nvPr/>
        </p:nvSpPr>
        <p:spPr>
          <a:xfrm>
            <a:off x="8238744" y="4924044"/>
            <a:ext cx="1508760" cy="182880"/>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1만~2만원</a:t>
            </a:r>
          </a:p>
        </p:txBody>
      </p:sp>
      <p:sp>
        <p:nvSpPr>
          <p:cNvPr id="62" name="Rectangle 61"/>
          <p:cNvSpPr/>
          <p:nvPr/>
        </p:nvSpPr>
        <p:spPr>
          <a:xfrm>
            <a:off x="9811512" y="4974336"/>
            <a:ext cx="1161288" cy="64008"/>
          </a:xfrm>
          <a:prstGeom prst="rect">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ectangle 62"/>
          <p:cNvSpPr/>
          <p:nvPr/>
        </p:nvSpPr>
        <p:spPr>
          <a:xfrm>
            <a:off x="9811512" y="4974336"/>
            <a:ext cx="1161288" cy="64008"/>
          </a:xfrm>
          <a:prstGeom prst="rect">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11091672" y="4910328"/>
            <a:ext cx="384048" cy="210312"/>
          </a:xfrm>
          <a:prstGeom prst="rect">
            <a:avLst/>
          </a:prstGeom>
          <a:noFill/>
        </p:spPr>
        <p:txBody>
          <a:bodyPr wrap="square" lIns="0" rIns="0" tIns="0" bIns="0">
            <a:noAutofit/>
          </a:bodyPr>
          <a:lstStyle/>
          <a:p>
            <a:pPr>
              <a:spcAft>
                <a:spcPts val="700"/>
              </a:spcAft>
              <a:defRPr sz="1100" b="1">
                <a:solidFill>
                  <a:srgbClr val="19374A"/>
                </a:solidFill>
                <a:latin typeface="맑은 고딕"/>
              </a:defRPr>
            </a:pPr>
            <a:r>
              <a:t>17</a:t>
            </a:r>
          </a:p>
        </p:txBody>
      </p:sp>
      <p:sp>
        <p:nvSpPr>
          <p:cNvPr id="65" name="TextBox 64"/>
          <p:cNvSpPr txBox="1"/>
          <p:nvPr/>
        </p:nvSpPr>
        <p:spPr>
          <a:xfrm>
            <a:off x="8238744" y="5157216"/>
            <a:ext cx="1508760" cy="182880"/>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2만원 초과</a:t>
            </a:r>
          </a:p>
        </p:txBody>
      </p:sp>
      <p:sp>
        <p:nvSpPr>
          <p:cNvPr id="66" name="Rectangle 65"/>
          <p:cNvSpPr/>
          <p:nvPr/>
        </p:nvSpPr>
        <p:spPr>
          <a:xfrm>
            <a:off x="9811512" y="5207507"/>
            <a:ext cx="1161288" cy="64008"/>
          </a:xfrm>
          <a:prstGeom prst="rect">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angle 66"/>
          <p:cNvSpPr/>
          <p:nvPr/>
        </p:nvSpPr>
        <p:spPr>
          <a:xfrm>
            <a:off x="9811512" y="5207507"/>
            <a:ext cx="409866" cy="64008"/>
          </a:xfrm>
          <a:prstGeom prst="rect">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11091672" y="5143500"/>
            <a:ext cx="384048" cy="210312"/>
          </a:xfrm>
          <a:prstGeom prst="rect">
            <a:avLst/>
          </a:prstGeom>
          <a:noFill/>
        </p:spPr>
        <p:txBody>
          <a:bodyPr wrap="square" lIns="0" rIns="0" tIns="0" bIns="0">
            <a:noAutofit/>
          </a:bodyPr>
          <a:lstStyle/>
          <a:p>
            <a:pPr>
              <a:spcAft>
                <a:spcPts val="700"/>
              </a:spcAft>
              <a:defRPr sz="1100" b="1">
                <a:solidFill>
                  <a:srgbClr val="19374A"/>
                </a:solidFill>
                <a:latin typeface="맑은 고딕"/>
              </a:defRPr>
            </a:pPr>
            <a:r>
              <a:t>6</a:t>
            </a:r>
          </a:p>
        </p:txBody>
      </p:sp>
      <p:sp>
        <p:nvSpPr>
          <p:cNvPr id="69" name="TextBox 68"/>
          <p:cNvSpPr txBox="1"/>
          <p:nvPr/>
        </p:nvSpPr>
        <p:spPr>
          <a:xfrm>
            <a:off x="685800" y="5989320"/>
            <a:ext cx="10972800" cy="182880"/>
          </a:xfrm>
          <a:prstGeom prst="rect">
            <a:avLst/>
          </a:prstGeom>
          <a:noFill/>
        </p:spPr>
        <p:txBody>
          <a:bodyPr wrap="square" lIns="0" rIns="0" tIns="0" bIns="0">
            <a:noAutofit/>
          </a:bodyPr>
          <a:lstStyle/>
          <a:p>
            <a:pPr>
              <a:spcAft>
                <a:spcPts val="700"/>
              </a:spcAft>
              <a:defRPr sz="1000" b="0">
                <a:solidFill>
                  <a:srgbClr val="637583"/>
                </a:solidFill>
                <a:latin typeface="맑은 고딕"/>
              </a:defRPr>
            </a:pPr>
            <a:r>
              <a:t>사용자가 승인한 기존 가상 CSV 사용. 주최 측 제공 파일로 확인된 자료는 없으며, 표시는 제출 데이터의 레코드 수이며 성과 통계가 아닙니다.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320040"/>
            <a:ext cx="347472" cy="347472"/>
          </a:xfrm>
          <a:prstGeom prst="roundRect">
            <a:avLst>
              <a:gd name="adj" fmla="val 12000"/>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66928" y="356616"/>
            <a:ext cx="228600" cy="228600"/>
          </a:xfrm>
          <a:prstGeom prst="rect">
            <a:avLst/>
          </a:prstGeom>
          <a:noFill/>
        </p:spPr>
        <p:txBody>
          <a:bodyPr wrap="square" lIns="0" rIns="0" tIns="0" bIns="0">
            <a:noAutofit/>
          </a:bodyPr>
          <a:lstStyle/>
          <a:p>
            <a:pPr>
              <a:spcAft>
                <a:spcPts val="700"/>
              </a:spcAft>
              <a:defRPr sz="1200" b="1">
                <a:solidFill>
                  <a:srgbClr val="FFFFFF"/>
                </a:solidFill>
                <a:latin typeface="맑은 고딕"/>
              </a:defRPr>
            </a:pPr>
            <a:r>
              <a:t>의</a:t>
            </a:r>
          </a:p>
        </p:txBody>
      </p:sp>
      <p:sp>
        <p:nvSpPr>
          <p:cNvPr id="4" name="TextBox 3"/>
          <p:cNvSpPr txBox="1"/>
          <p:nvPr/>
        </p:nvSpPr>
        <p:spPr>
          <a:xfrm>
            <a:off x="960120" y="347472"/>
            <a:ext cx="4572000" cy="274320"/>
          </a:xfrm>
          <a:prstGeom prst="rect">
            <a:avLst/>
          </a:prstGeom>
          <a:noFill/>
        </p:spPr>
        <p:txBody>
          <a:bodyPr wrap="square" lIns="0" rIns="0" tIns="0" bIns="0">
            <a:noAutofit/>
          </a:bodyPr>
          <a:lstStyle/>
          <a:p>
            <a:pPr>
              <a:spcAft>
                <a:spcPts val="700"/>
              </a:spcAft>
              <a:defRPr sz="1200" b="1">
                <a:solidFill>
                  <a:srgbClr val="356B51"/>
                </a:solidFill>
                <a:latin typeface="맑은 고딕"/>
              </a:defRPr>
            </a:pPr>
            <a:r>
              <a:t>의동이 PICK  |  바이브코딩 대회</a:t>
            </a:r>
          </a:p>
        </p:txBody>
      </p:sp>
      <p:sp>
        <p:nvSpPr>
          <p:cNvPr id="5" name="TextBox 4"/>
          <p:cNvSpPr txBox="1"/>
          <p:nvPr/>
        </p:nvSpPr>
        <p:spPr>
          <a:xfrm>
            <a:off x="9418320" y="347472"/>
            <a:ext cx="2286000" cy="274320"/>
          </a:xfrm>
          <a:prstGeom prst="rect">
            <a:avLst/>
          </a:prstGeom>
          <a:noFill/>
        </p:spPr>
        <p:txBody>
          <a:bodyPr wrap="square" lIns="0" rIns="0" tIns="0" bIns="0">
            <a:noAutofit/>
          </a:bodyPr>
          <a:lstStyle/>
          <a:p>
            <a:pPr>
              <a:spcAft>
                <a:spcPts val="700"/>
              </a:spcAft>
              <a:defRPr sz="1200" b="0">
                <a:solidFill>
                  <a:srgbClr val="637583"/>
                </a:solidFill>
                <a:latin typeface="맑은 고딕"/>
              </a:defRPr>
            </a:pPr>
            <a:r>
              <a:t>04  실제 화면</a:t>
            </a:r>
          </a:p>
        </p:txBody>
      </p:sp>
      <p:sp>
        <p:nvSpPr>
          <p:cNvPr id="6" name="TextBox 5"/>
          <p:cNvSpPr txBox="1"/>
          <p:nvPr/>
        </p:nvSpPr>
        <p:spPr>
          <a:xfrm>
            <a:off x="566928" y="932688"/>
            <a:ext cx="11018520" cy="621792"/>
          </a:xfrm>
          <a:prstGeom prst="rect">
            <a:avLst/>
          </a:prstGeom>
          <a:noFill/>
        </p:spPr>
        <p:txBody>
          <a:bodyPr wrap="square" lIns="0" rIns="0" tIns="0" bIns="0">
            <a:noAutofit/>
          </a:bodyPr>
          <a:lstStyle/>
          <a:p>
            <a:pPr>
              <a:spcAft>
                <a:spcPts val="700"/>
              </a:spcAft>
              <a:defRPr sz="2900" b="1">
                <a:solidFill>
                  <a:srgbClr val="19374A"/>
                </a:solidFill>
                <a:latin typeface="맑은 고딕"/>
              </a:defRPr>
            </a:pPr>
            <a:r>
              <a:t>시간표와 추천 이유를 한 화면에서 확인합니다</a:t>
            </a:r>
          </a:p>
        </p:txBody>
      </p:sp>
      <p:sp>
        <p:nvSpPr>
          <p:cNvPr id="7" name="TextBox 6"/>
          <p:cNvSpPr txBox="1"/>
          <p:nvPr/>
        </p:nvSpPr>
        <p:spPr>
          <a:xfrm>
            <a:off x="594360" y="1691640"/>
            <a:ext cx="10972800" cy="484632"/>
          </a:xfrm>
          <a:prstGeom prst="rect">
            <a:avLst/>
          </a:prstGeom>
          <a:noFill/>
        </p:spPr>
        <p:txBody>
          <a:bodyPr wrap="square" lIns="0" rIns="0" tIns="0" bIns="0">
            <a:noAutofit/>
          </a:bodyPr>
          <a:lstStyle/>
          <a:p>
            <a:pPr>
              <a:spcAft>
                <a:spcPts val="700"/>
              </a:spcAft>
              <a:defRPr sz="1500" b="0">
                <a:solidFill>
                  <a:srgbClr val="637583"/>
                </a:solidFill>
                <a:latin typeface="맑은 고딕"/>
              </a:defRPr>
            </a:pPr>
            <a:r>
              <a:t>실제 실행한 USB 체험판 화면 · 가상 데이터 표시와 미확인 정보 안내 유지</a:t>
            </a:r>
          </a:p>
        </p:txBody>
      </p:sp>
      <p:sp>
        <p:nvSpPr>
          <p:cNvPr id="8" name="Rectangle 7"/>
          <p:cNvSpPr/>
          <p:nvPr/>
        </p:nvSpPr>
        <p:spPr>
          <a:xfrm>
            <a:off x="566928" y="6419088"/>
            <a:ext cx="11036808" cy="13716"/>
          </a:xfrm>
          <a:prstGeom prst="rect">
            <a:avLst/>
          </a:prstGeom>
          <a:solidFill>
            <a:srgbClr val="DCE4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94360" y="6519672"/>
            <a:ext cx="9875520" cy="182880"/>
          </a:xfrm>
          <a:prstGeom prst="rect">
            <a:avLst/>
          </a:prstGeom>
          <a:noFill/>
        </p:spPr>
        <p:txBody>
          <a:bodyPr wrap="square" lIns="0" rIns="0" tIns="0" bIns="0">
            <a:noAutofit/>
          </a:bodyPr>
          <a:lstStyle/>
          <a:p>
            <a:pPr>
              <a:spcAft>
                <a:spcPts val="700"/>
              </a:spcAft>
              <a:defRPr sz="900" b="0">
                <a:solidFill>
                  <a:srgbClr val="637583"/>
                </a:solidFill>
                <a:latin typeface="맑은 고딕"/>
              </a:defRPr>
            </a:pPr>
            <a:r>
              <a:t>CSV 기반 오프라인 체험판 · 가상/미검증 자료 포함 · 의성군 공식 서비스 아님</a:t>
            </a:r>
          </a:p>
        </p:txBody>
      </p:sp>
      <p:sp>
        <p:nvSpPr>
          <p:cNvPr id="10" name="TextBox 9"/>
          <p:cNvSpPr txBox="1"/>
          <p:nvPr/>
        </p:nvSpPr>
        <p:spPr>
          <a:xfrm>
            <a:off x="10789920" y="6483096"/>
            <a:ext cx="822960" cy="256032"/>
          </a:xfrm>
          <a:prstGeom prst="rect">
            <a:avLst/>
          </a:prstGeom>
          <a:noFill/>
        </p:spPr>
        <p:txBody>
          <a:bodyPr wrap="square" lIns="0" rIns="0" tIns="0" bIns="0">
            <a:noAutofit/>
          </a:bodyPr>
          <a:lstStyle/>
          <a:p>
            <a:pPr>
              <a:spcAft>
                <a:spcPts val="700"/>
              </a:spcAft>
              <a:defRPr sz="1100" b="1">
                <a:solidFill>
                  <a:srgbClr val="356B51"/>
                </a:solidFill>
                <a:latin typeface="맑은 고딕"/>
              </a:defRPr>
            </a:pPr>
            <a:r>
              <a:t>04 / 05</a:t>
            </a:r>
          </a:p>
        </p:txBody>
      </p:sp>
      <p:sp>
        <p:nvSpPr>
          <p:cNvPr id="11" name="Rounded Rectangle 10"/>
          <p:cNvSpPr/>
          <p:nvPr/>
        </p:nvSpPr>
        <p:spPr>
          <a:xfrm>
            <a:off x="594360" y="2331720"/>
            <a:ext cx="7635240" cy="3785615"/>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화면_일정.png"/>
          <p:cNvPicPr>
            <a:picLocks noChangeAspect="1"/>
          </p:cNvPicPr>
          <p:nvPr/>
        </p:nvPicPr>
        <p:blipFill>
          <a:blip r:embed="rId2"/>
          <a:srcRect l="8000" r="8000" t="30000" b="10500"/>
          <a:stretch>
            <a:fillRect/>
          </a:stretch>
        </p:blipFill>
        <p:spPr>
          <a:xfrm>
            <a:off x="658368" y="2377440"/>
            <a:ext cx="7498079" cy="3685032"/>
          </a:xfrm>
          <a:prstGeom prst="rect">
            <a:avLst/>
          </a:prstGeom>
        </p:spPr>
      </p:pic>
      <p:sp>
        <p:nvSpPr>
          <p:cNvPr id="13" name="TextBox 12"/>
          <p:cNvSpPr txBox="1"/>
          <p:nvPr/>
        </p:nvSpPr>
        <p:spPr>
          <a:xfrm>
            <a:off x="8549640" y="2560320"/>
            <a:ext cx="3017520" cy="347472"/>
          </a:xfrm>
          <a:prstGeom prst="rect">
            <a:avLst/>
          </a:prstGeom>
          <a:noFill/>
        </p:spPr>
        <p:txBody>
          <a:bodyPr wrap="square" lIns="0" rIns="0" tIns="0" bIns="0">
            <a:noAutofit/>
          </a:bodyPr>
          <a:lstStyle/>
          <a:p>
            <a:pPr>
              <a:spcAft>
                <a:spcPts val="700"/>
              </a:spcAft>
              <a:defRPr sz="1800" b="1">
                <a:solidFill>
                  <a:srgbClr val="356B51"/>
                </a:solidFill>
                <a:latin typeface="맑은 고딕"/>
              </a:defRPr>
            </a:pPr>
            <a:r>
              <a:t>✓ 시간 예산 확인</a:t>
            </a:r>
          </a:p>
        </p:txBody>
      </p:sp>
      <p:sp>
        <p:nvSpPr>
          <p:cNvPr id="14" name="TextBox 13"/>
          <p:cNvSpPr txBox="1"/>
          <p:nvPr/>
        </p:nvSpPr>
        <p:spPr>
          <a:xfrm>
            <a:off x="8549640" y="3026663"/>
            <a:ext cx="2971800" cy="640080"/>
          </a:xfrm>
          <a:prstGeom prst="rect">
            <a:avLst/>
          </a:prstGeom>
          <a:noFill/>
        </p:spPr>
        <p:txBody>
          <a:bodyPr wrap="square" lIns="0" rIns="0" tIns="0" bIns="0">
            <a:noAutofit/>
          </a:bodyPr>
          <a:lstStyle/>
          <a:p>
            <a:pPr>
              <a:spcAft>
                <a:spcPts val="700"/>
              </a:spcAft>
              <a:defRPr sz="1300" b="0">
                <a:solidFill>
                  <a:srgbClr val="637583"/>
                </a:solidFill>
                <a:latin typeface="맑은 고딕"/>
              </a:defRPr>
            </a:pPr>
            <a:r>
              <a:t>체류시간과 입력한 이동 여유를</a:t>
            </a:r>
          </a:p>
          <a:p>
            <a:pPr>
              <a:spcAft>
                <a:spcPts val="700"/>
              </a:spcAft>
              <a:defRPr sz="1300" b="0">
                <a:solidFill>
                  <a:srgbClr val="637583"/>
                </a:solidFill>
                <a:latin typeface="맑은 고딕"/>
              </a:defRPr>
            </a:pPr>
            <a:r>
              <a:t>합산해 방문 후보를 배치</a:t>
            </a:r>
          </a:p>
        </p:txBody>
      </p:sp>
      <p:sp>
        <p:nvSpPr>
          <p:cNvPr id="15" name="TextBox 14"/>
          <p:cNvSpPr txBox="1"/>
          <p:nvPr/>
        </p:nvSpPr>
        <p:spPr>
          <a:xfrm>
            <a:off x="8549640" y="3721608"/>
            <a:ext cx="3017520" cy="347472"/>
          </a:xfrm>
          <a:prstGeom prst="rect">
            <a:avLst/>
          </a:prstGeom>
          <a:noFill/>
        </p:spPr>
        <p:txBody>
          <a:bodyPr wrap="square" lIns="0" rIns="0" tIns="0" bIns="0">
            <a:noAutofit/>
          </a:bodyPr>
          <a:lstStyle/>
          <a:p>
            <a:pPr>
              <a:spcAft>
                <a:spcPts val="700"/>
              </a:spcAft>
              <a:defRPr sz="1800" b="1">
                <a:solidFill>
                  <a:srgbClr val="356B51"/>
                </a:solidFill>
                <a:latin typeface="맑은 고딕"/>
              </a:defRPr>
            </a:pPr>
            <a:r>
              <a:t>✓ 추천 이유 표시</a:t>
            </a:r>
          </a:p>
        </p:txBody>
      </p:sp>
      <p:sp>
        <p:nvSpPr>
          <p:cNvPr id="16" name="TextBox 15"/>
          <p:cNvSpPr txBox="1"/>
          <p:nvPr/>
        </p:nvSpPr>
        <p:spPr>
          <a:xfrm>
            <a:off x="8549640" y="4187952"/>
            <a:ext cx="2971800" cy="640080"/>
          </a:xfrm>
          <a:prstGeom prst="rect">
            <a:avLst/>
          </a:prstGeom>
          <a:noFill/>
        </p:spPr>
        <p:txBody>
          <a:bodyPr wrap="square" lIns="0" rIns="0" tIns="0" bIns="0">
            <a:noAutofit/>
          </a:bodyPr>
          <a:lstStyle/>
          <a:p>
            <a:pPr>
              <a:spcAft>
                <a:spcPts val="700"/>
              </a:spcAft>
              <a:defRPr sz="1300" b="0">
                <a:solidFill>
                  <a:srgbClr val="637583"/>
                </a:solidFill>
                <a:latin typeface="맑은 고딕"/>
              </a:defRPr>
            </a:pPr>
            <a:r>
              <a:t>동행·관심사·점심시간 등</a:t>
            </a:r>
          </a:p>
          <a:p>
            <a:pPr>
              <a:spcAft>
                <a:spcPts val="700"/>
              </a:spcAft>
              <a:defRPr sz="1300" b="0">
                <a:solidFill>
                  <a:srgbClr val="637583"/>
                </a:solidFill>
                <a:latin typeface="맑은 고딕"/>
              </a:defRPr>
            </a:pPr>
            <a:r>
              <a:t>실제 일치·계산한 이유만 설명</a:t>
            </a:r>
          </a:p>
        </p:txBody>
      </p:sp>
      <p:sp>
        <p:nvSpPr>
          <p:cNvPr id="17" name="TextBox 16"/>
          <p:cNvSpPr txBox="1"/>
          <p:nvPr/>
        </p:nvSpPr>
        <p:spPr>
          <a:xfrm>
            <a:off x="8549640" y="4864608"/>
            <a:ext cx="3017520" cy="347472"/>
          </a:xfrm>
          <a:prstGeom prst="rect">
            <a:avLst/>
          </a:prstGeom>
          <a:noFill/>
        </p:spPr>
        <p:txBody>
          <a:bodyPr wrap="square" lIns="0" rIns="0" tIns="0" bIns="0">
            <a:noAutofit/>
          </a:bodyPr>
          <a:lstStyle/>
          <a:p>
            <a:pPr>
              <a:spcAft>
                <a:spcPts val="700"/>
              </a:spcAft>
              <a:defRPr sz="1800" b="1">
                <a:solidFill>
                  <a:srgbClr val="356B51"/>
                </a:solidFill>
                <a:latin typeface="맑은 고딕"/>
              </a:defRPr>
            </a:pPr>
            <a:r>
              <a:t>✓ 자료 구분 유지</a:t>
            </a:r>
          </a:p>
        </p:txBody>
      </p:sp>
      <p:sp>
        <p:nvSpPr>
          <p:cNvPr id="18" name="TextBox 17"/>
          <p:cNvSpPr txBox="1"/>
          <p:nvPr/>
        </p:nvSpPr>
        <p:spPr>
          <a:xfrm>
            <a:off x="8549640" y="5330952"/>
            <a:ext cx="2971800" cy="640080"/>
          </a:xfrm>
          <a:prstGeom prst="rect">
            <a:avLst/>
          </a:prstGeom>
          <a:noFill/>
        </p:spPr>
        <p:txBody>
          <a:bodyPr wrap="square" lIns="0" rIns="0" tIns="0" bIns="0">
            <a:noAutofit/>
          </a:bodyPr>
          <a:lstStyle/>
          <a:p>
            <a:pPr>
              <a:spcAft>
                <a:spcPts val="700"/>
              </a:spcAft>
              <a:defRPr sz="1300" b="0">
                <a:solidFill>
                  <a:srgbClr val="637583"/>
                </a:solidFill>
                <a:latin typeface="맑은 고딕"/>
              </a:defRPr>
            </a:pPr>
            <a:r>
              <a:t>가상 업소는 실제 지도·예약 제외</a:t>
            </a:r>
          </a:p>
          <a:p>
            <a:pPr>
              <a:spcAft>
                <a:spcPts val="700"/>
              </a:spcAft>
              <a:defRPr sz="1300" b="0">
                <a:solidFill>
                  <a:srgbClr val="637583"/>
                </a:solidFill>
                <a:latin typeface="맑은 고딕"/>
              </a:defRPr>
            </a:pPr>
            <a:r>
              <a:t>미확인 이동·운영은 확인 필요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320040"/>
            <a:ext cx="347472" cy="347472"/>
          </a:xfrm>
          <a:prstGeom prst="roundRect">
            <a:avLst>
              <a:gd name="adj" fmla="val 12000"/>
            </a:avLst>
          </a:prstGeom>
          <a:solidFill>
            <a:srgbClr val="356B5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66928" y="356616"/>
            <a:ext cx="228600" cy="228600"/>
          </a:xfrm>
          <a:prstGeom prst="rect">
            <a:avLst/>
          </a:prstGeom>
          <a:noFill/>
        </p:spPr>
        <p:txBody>
          <a:bodyPr wrap="square" lIns="0" rIns="0" tIns="0" bIns="0">
            <a:noAutofit/>
          </a:bodyPr>
          <a:lstStyle/>
          <a:p>
            <a:pPr>
              <a:spcAft>
                <a:spcPts val="700"/>
              </a:spcAft>
              <a:defRPr sz="1200" b="1">
                <a:solidFill>
                  <a:srgbClr val="FFFFFF"/>
                </a:solidFill>
                <a:latin typeface="맑은 고딕"/>
              </a:defRPr>
            </a:pPr>
            <a:r>
              <a:t>의</a:t>
            </a:r>
          </a:p>
        </p:txBody>
      </p:sp>
      <p:sp>
        <p:nvSpPr>
          <p:cNvPr id="4" name="TextBox 3"/>
          <p:cNvSpPr txBox="1"/>
          <p:nvPr/>
        </p:nvSpPr>
        <p:spPr>
          <a:xfrm>
            <a:off x="960120" y="347472"/>
            <a:ext cx="4572000" cy="274320"/>
          </a:xfrm>
          <a:prstGeom prst="rect">
            <a:avLst/>
          </a:prstGeom>
          <a:noFill/>
        </p:spPr>
        <p:txBody>
          <a:bodyPr wrap="square" lIns="0" rIns="0" tIns="0" bIns="0">
            <a:noAutofit/>
          </a:bodyPr>
          <a:lstStyle/>
          <a:p>
            <a:pPr>
              <a:spcAft>
                <a:spcPts val="700"/>
              </a:spcAft>
              <a:defRPr sz="1200" b="1">
                <a:solidFill>
                  <a:srgbClr val="356B51"/>
                </a:solidFill>
                <a:latin typeface="맑은 고딕"/>
              </a:defRPr>
            </a:pPr>
            <a:r>
              <a:t>의동이 PICK  |  바이브코딩 대회</a:t>
            </a:r>
          </a:p>
        </p:txBody>
      </p:sp>
      <p:sp>
        <p:nvSpPr>
          <p:cNvPr id="5" name="TextBox 4"/>
          <p:cNvSpPr txBox="1"/>
          <p:nvPr/>
        </p:nvSpPr>
        <p:spPr>
          <a:xfrm>
            <a:off x="9418320" y="347472"/>
            <a:ext cx="2286000" cy="274320"/>
          </a:xfrm>
          <a:prstGeom prst="rect">
            <a:avLst/>
          </a:prstGeom>
          <a:noFill/>
        </p:spPr>
        <p:txBody>
          <a:bodyPr wrap="square" lIns="0" rIns="0" tIns="0" bIns="0">
            <a:noAutofit/>
          </a:bodyPr>
          <a:lstStyle/>
          <a:p>
            <a:pPr>
              <a:spcAft>
                <a:spcPts val="700"/>
              </a:spcAft>
              <a:defRPr sz="1200" b="0">
                <a:solidFill>
                  <a:srgbClr val="637583"/>
                </a:solidFill>
                <a:latin typeface="맑은 고딕"/>
              </a:defRPr>
            </a:pPr>
            <a:r>
              <a:t>05  군민 혜택</a:t>
            </a:r>
          </a:p>
        </p:txBody>
      </p:sp>
      <p:sp>
        <p:nvSpPr>
          <p:cNvPr id="6" name="TextBox 5"/>
          <p:cNvSpPr txBox="1"/>
          <p:nvPr/>
        </p:nvSpPr>
        <p:spPr>
          <a:xfrm>
            <a:off x="566928" y="932688"/>
            <a:ext cx="11018520" cy="621792"/>
          </a:xfrm>
          <a:prstGeom prst="rect">
            <a:avLst/>
          </a:prstGeom>
          <a:noFill/>
        </p:spPr>
        <p:txBody>
          <a:bodyPr wrap="square" lIns="0" rIns="0" tIns="0" bIns="0">
            <a:noAutofit/>
          </a:bodyPr>
          <a:lstStyle/>
          <a:p>
            <a:pPr>
              <a:spcAft>
                <a:spcPts val="700"/>
              </a:spcAft>
              <a:defRPr sz="2900" b="1">
                <a:solidFill>
                  <a:srgbClr val="19374A"/>
                </a:solidFill>
                <a:latin typeface="맑은 고딕"/>
              </a:defRPr>
            </a:pPr>
            <a:r>
              <a:t>군민의 여행 준비와 지역 자원의 연결을 돕습니다</a:t>
            </a:r>
          </a:p>
        </p:txBody>
      </p:sp>
      <p:sp>
        <p:nvSpPr>
          <p:cNvPr id="7" name="TextBox 6"/>
          <p:cNvSpPr txBox="1"/>
          <p:nvPr/>
        </p:nvSpPr>
        <p:spPr>
          <a:xfrm>
            <a:off x="594360" y="1691640"/>
            <a:ext cx="10972800" cy="484632"/>
          </a:xfrm>
          <a:prstGeom prst="rect">
            <a:avLst/>
          </a:prstGeom>
          <a:noFill/>
        </p:spPr>
        <p:txBody>
          <a:bodyPr wrap="square" lIns="0" rIns="0" tIns="0" bIns="0">
            <a:noAutofit/>
          </a:bodyPr>
          <a:lstStyle/>
          <a:p>
            <a:pPr>
              <a:spcAft>
                <a:spcPts val="700"/>
              </a:spcAft>
              <a:defRPr sz="1500" b="0">
                <a:solidFill>
                  <a:srgbClr val="637583"/>
                </a:solidFill>
                <a:latin typeface="맑은 고딕"/>
              </a:defRPr>
            </a:pPr>
            <a:r>
              <a:t>다음 내용은 기대효과이며 실제 방문·매출·만족도 개선은 아직 측정하지 않았습니다.</a:t>
            </a:r>
          </a:p>
        </p:txBody>
      </p:sp>
      <p:sp>
        <p:nvSpPr>
          <p:cNvPr id="8" name="Rectangle 7"/>
          <p:cNvSpPr/>
          <p:nvPr/>
        </p:nvSpPr>
        <p:spPr>
          <a:xfrm>
            <a:off x="566928" y="6419088"/>
            <a:ext cx="11036808" cy="13716"/>
          </a:xfrm>
          <a:prstGeom prst="rect">
            <a:avLst/>
          </a:prstGeom>
          <a:solidFill>
            <a:srgbClr val="DCE4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94360" y="6519672"/>
            <a:ext cx="9875520" cy="182880"/>
          </a:xfrm>
          <a:prstGeom prst="rect">
            <a:avLst/>
          </a:prstGeom>
          <a:noFill/>
        </p:spPr>
        <p:txBody>
          <a:bodyPr wrap="square" lIns="0" rIns="0" tIns="0" bIns="0">
            <a:noAutofit/>
          </a:bodyPr>
          <a:lstStyle/>
          <a:p>
            <a:pPr>
              <a:spcAft>
                <a:spcPts val="700"/>
              </a:spcAft>
              <a:defRPr sz="900" b="0">
                <a:solidFill>
                  <a:srgbClr val="637583"/>
                </a:solidFill>
                <a:latin typeface="맑은 고딕"/>
              </a:defRPr>
            </a:pPr>
            <a:r>
              <a:t>CSV 기반 오프라인 체험판 · 가상/미검증 자료 포함 · 의성군 공식 서비스 아님</a:t>
            </a:r>
          </a:p>
        </p:txBody>
      </p:sp>
      <p:sp>
        <p:nvSpPr>
          <p:cNvPr id="10" name="TextBox 9"/>
          <p:cNvSpPr txBox="1"/>
          <p:nvPr/>
        </p:nvSpPr>
        <p:spPr>
          <a:xfrm>
            <a:off x="10789920" y="6483096"/>
            <a:ext cx="822960" cy="256032"/>
          </a:xfrm>
          <a:prstGeom prst="rect">
            <a:avLst/>
          </a:prstGeom>
          <a:noFill/>
        </p:spPr>
        <p:txBody>
          <a:bodyPr wrap="square" lIns="0" rIns="0" tIns="0" bIns="0">
            <a:noAutofit/>
          </a:bodyPr>
          <a:lstStyle/>
          <a:p>
            <a:pPr>
              <a:spcAft>
                <a:spcPts val="700"/>
              </a:spcAft>
              <a:defRPr sz="1100" b="1">
                <a:solidFill>
                  <a:srgbClr val="356B51"/>
                </a:solidFill>
                <a:latin typeface="맑은 고딕"/>
              </a:defRPr>
            </a:pPr>
            <a:r>
              <a:t>05 / 05</a:t>
            </a:r>
          </a:p>
        </p:txBody>
      </p:sp>
      <p:sp>
        <p:nvSpPr>
          <p:cNvPr id="11" name="Rounded Rectangle 10"/>
          <p:cNvSpPr/>
          <p:nvPr/>
        </p:nvSpPr>
        <p:spPr>
          <a:xfrm>
            <a:off x="594360" y="2514600"/>
            <a:ext cx="3364992" cy="2212848"/>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22960" y="2834640"/>
            <a:ext cx="2907792" cy="411480"/>
          </a:xfrm>
          <a:prstGeom prst="rect">
            <a:avLst/>
          </a:prstGeom>
          <a:noFill/>
        </p:spPr>
        <p:txBody>
          <a:bodyPr wrap="square" lIns="0" rIns="0" tIns="0" bIns="0">
            <a:noAutofit/>
          </a:bodyPr>
          <a:lstStyle/>
          <a:p>
            <a:pPr>
              <a:spcAft>
                <a:spcPts val="700"/>
              </a:spcAft>
              <a:defRPr sz="2300" b="1">
                <a:solidFill>
                  <a:srgbClr val="356B51"/>
                </a:solidFill>
                <a:latin typeface="맑은 고딕"/>
              </a:defRPr>
            </a:pPr>
            <a:r>
              <a:t>군민·방문객</a:t>
            </a:r>
          </a:p>
        </p:txBody>
      </p:sp>
      <p:sp>
        <p:nvSpPr>
          <p:cNvPr id="13" name="TextBox 12"/>
          <p:cNvSpPr txBox="1"/>
          <p:nvPr/>
        </p:nvSpPr>
        <p:spPr>
          <a:xfrm>
            <a:off x="822960" y="3602736"/>
            <a:ext cx="2907792" cy="822960"/>
          </a:xfrm>
          <a:prstGeom prst="rect">
            <a:avLst/>
          </a:prstGeom>
          <a:noFill/>
        </p:spPr>
        <p:txBody>
          <a:bodyPr wrap="square" lIns="0" rIns="0" tIns="0" bIns="0">
            <a:noAutofit/>
          </a:bodyPr>
          <a:lstStyle/>
          <a:p>
            <a:pPr>
              <a:spcAft>
                <a:spcPts val="700"/>
              </a:spcAft>
              <a:defRPr sz="1600" b="0">
                <a:solidFill>
                  <a:srgbClr val="637583"/>
                </a:solidFill>
                <a:latin typeface="맑은 고딕"/>
              </a:defRPr>
            </a:pPr>
            <a:r>
              <a:t>조건별 후보와 일정 초안을</a:t>
            </a:r>
          </a:p>
          <a:p>
            <a:pPr>
              <a:spcAft>
                <a:spcPts val="700"/>
              </a:spcAft>
              <a:defRPr sz="1600" b="0">
                <a:solidFill>
                  <a:srgbClr val="637583"/>
                </a:solidFill>
                <a:latin typeface="맑은 고딕"/>
              </a:defRPr>
            </a:pPr>
            <a:r>
              <a:t>한 화면에서 비교하는 데 도움</a:t>
            </a:r>
          </a:p>
        </p:txBody>
      </p:sp>
      <p:sp>
        <p:nvSpPr>
          <p:cNvPr id="14" name="Rounded Rectangle 13"/>
          <p:cNvSpPr/>
          <p:nvPr/>
        </p:nvSpPr>
        <p:spPr>
          <a:xfrm>
            <a:off x="4416552" y="2514600"/>
            <a:ext cx="3364992" cy="2212848"/>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645152" y="2834640"/>
            <a:ext cx="2907792" cy="411480"/>
          </a:xfrm>
          <a:prstGeom prst="rect">
            <a:avLst/>
          </a:prstGeom>
          <a:noFill/>
        </p:spPr>
        <p:txBody>
          <a:bodyPr wrap="square" lIns="0" rIns="0" tIns="0" bIns="0">
            <a:noAutofit/>
          </a:bodyPr>
          <a:lstStyle/>
          <a:p>
            <a:pPr>
              <a:spcAft>
                <a:spcPts val="700"/>
              </a:spcAft>
              <a:defRPr sz="2300" b="1">
                <a:solidFill>
                  <a:srgbClr val="356B51"/>
                </a:solidFill>
                <a:latin typeface="맑은 고딕"/>
              </a:defRPr>
            </a:pPr>
            <a:r>
              <a:t>지역 상권</a:t>
            </a:r>
          </a:p>
        </p:txBody>
      </p:sp>
      <p:sp>
        <p:nvSpPr>
          <p:cNvPr id="16" name="TextBox 15"/>
          <p:cNvSpPr txBox="1"/>
          <p:nvPr/>
        </p:nvSpPr>
        <p:spPr>
          <a:xfrm>
            <a:off x="4645152" y="3602736"/>
            <a:ext cx="2907792" cy="822960"/>
          </a:xfrm>
          <a:prstGeom prst="rect">
            <a:avLst/>
          </a:prstGeom>
          <a:noFill/>
        </p:spPr>
        <p:txBody>
          <a:bodyPr wrap="square" lIns="0" rIns="0" tIns="0" bIns="0">
            <a:noAutofit/>
          </a:bodyPr>
          <a:lstStyle/>
          <a:p>
            <a:pPr>
              <a:spcAft>
                <a:spcPts val="700"/>
              </a:spcAft>
              <a:defRPr sz="1600" b="0">
                <a:solidFill>
                  <a:srgbClr val="637583"/>
                </a:solidFill>
                <a:latin typeface="맑은 고딕"/>
              </a:defRPr>
            </a:pPr>
            <a:r>
              <a:t>맛집·카페·특산물 판매 후보를</a:t>
            </a:r>
          </a:p>
          <a:p>
            <a:pPr>
              <a:spcAft>
                <a:spcPts val="700"/>
              </a:spcAft>
              <a:defRPr sz="1600" b="0">
                <a:solidFill>
                  <a:srgbClr val="637583"/>
                </a:solidFill>
                <a:latin typeface="맑은 고딕"/>
              </a:defRPr>
            </a:pPr>
            <a:r>
              <a:t>추천 일정에 연결하는 구조</a:t>
            </a:r>
          </a:p>
        </p:txBody>
      </p:sp>
      <p:sp>
        <p:nvSpPr>
          <p:cNvPr id="17" name="Rounded Rectangle 16"/>
          <p:cNvSpPr/>
          <p:nvPr/>
        </p:nvSpPr>
        <p:spPr>
          <a:xfrm>
            <a:off x="8238744" y="2514600"/>
            <a:ext cx="3364992" cy="2212848"/>
          </a:xfrm>
          <a:prstGeom prst="roundRect">
            <a:avLst>
              <a:gd name="adj" fmla="val 12000"/>
            </a:avLst>
          </a:prstGeom>
          <a:solidFill>
            <a:srgbClr val="FFFFFF"/>
          </a:solidFill>
          <a:ln>
            <a:solidFill>
              <a:srgbClr val="DCE4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467344" y="2834640"/>
            <a:ext cx="2907792" cy="411480"/>
          </a:xfrm>
          <a:prstGeom prst="rect">
            <a:avLst/>
          </a:prstGeom>
          <a:noFill/>
        </p:spPr>
        <p:txBody>
          <a:bodyPr wrap="square" lIns="0" rIns="0" tIns="0" bIns="0">
            <a:noAutofit/>
          </a:bodyPr>
          <a:lstStyle/>
          <a:p>
            <a:pPr>
              <a:spcAft>
                <a:spcPts val="700"/>
              </a:spcAft>
              <a:defRPr sz="2300" b="1">
                <a:solidFill>
                  <a:srgbClr val="356B51"/>
                </a:solidFill>
                <a:latin typeface="맑은 고딕"/>
              </a:defRPr>
            </a:pPr>
            <a:r>
              <a:t>운영·행정</a:t>
            </a:r>
          </a:p>
        </p:txBody>
      </p:sp>
      <p:sp>
        <p:nvSpPr>
          <p:cNvPr id="19" name="TextBox 18"/>
          <p:cNvSpPr txBox="1"/>
          <p:nvPr/>
        </p:nvSpPr>
        <p:spPr>
          <a:xfrm>
            <a:off x="8467344" y="3602736"/>
            <a:ext cx="2907792" cy="822960"/>
          </a:xfrm>
          <a:prstGeom prst="rect">
            <a:avLst/>
          </a:prstGeom>
          <a:noFill/>
        </p:spPr>
        <p:txBody>
          <a:bodyPr wrap="square" lIns="0" rIns="0" tIns="0" bIns="0">
            <a:noAutofit/>
          </a:bodyPr>
          <a:lstStyle/>
          <a:p>
            <a:pPr>
              <a:spcAft>
                <a:spcPts val="700"/>
              </a:spcAft>
              <a:defRPr sz="1600" b="0">
                <a:solidFill>
                  <a:srgbClr val="637583"/>
                </a:solidFill>
                <a:latin typeface="맑은 고딕"/>
              </a:defRPr>
            </a:pPr>
            <a:r>
              <a:t>CSV 기반 자료 관리와</a:t>
            </a:r>
          </a:p>
          <a:p>
            <a:pPr>
              <a:spcAft>
                <a:spcPts val="700"/>
              </a:spcAft>
              <a:defRPr sz="1600" b="0">
                <a:solidFill>
                  <a:srgbClr val="637583"/>
                </a:solidFill>
                <a:latin typeface="맑은 고딕"/>
              </a:defRPr>
            </a:pPr>
            <a:r>
              <a:t>추천 근거·미확인 정보 구분</a:t>
            </a:r>
          </a:p>
        </p:txBody>
      </p:sp>
      <p:sp>
        <p:nvSpPr>
          <p:cNvPr id="20" name="Rounded Rectangle 19"/>
          <p:cNvSpPr/>
          <p:nvPr/>
        </p:nvSpPr>
        <p:spPr>
          <a:xfrm>
            <a:off x="594360" y="5166360"/>
            <a:ext cx="11009376" cy="868680"/>
          </a:xfrm>
          <a:prstGeom prst="roundRect">
            <a:avLst>
              <a:gd name="adj" fmla="val 12000"/>
            </a:avLst>
          </a:prstGeom>
          <a:solidFill>
            <a:srgbClr val="EAF1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5321808"/>
            <a:ext cx="10561320" cy="530352"/>
          </a:xfrm>
          <a:prstGeom prst="rect">
            <a:avLst/>
          </a:prstGeom>
          <a:noFill/>
        </p:spPr>
        <p:txBody>
          <a:bodyPr wrap="square" lIns="0" rIns="0" tIns="0" bIns="0">
            <a:noAutofit/>
          </a:bodyPr>
          <a:lstStyle/>
          <a:p>
            <a:pPr>
              <a:spcAft>
                <a:spcPts val="700"/>
              </a:spcAft>
              <a:defRPr sz="1500" b="1">
                <a:solidFill>
                  <a:srgbClr val="356B51"/>
                </a:solidFill>
                <a:latin typeface="맑은 고딕"/>
              </a:defRPr>
            </a:pPr>
            <a:r>
              <a:t>현재: CSV 기반 오프라인 체험판</a:t>
            </a:r>
          </a:p>
          <a:p>
            <a:pPr>
              <a:spcAft>
                <a:spcPts val="700"/>
              </a:spcAft>
              <a:defRPr sz="1500" b="1">
                <a:solidFill>
                  <a:srgbClr val="356B51"/>
                </a:solidFill>
                <a:latin typeface="맑은 고딕"/>
              </a:defRPr>
            </a:pPr>
            <a:r>
              <a:t>다음: 실제 업소·운영 검증, 이동자료 확보, 군민 대상 사용성 평가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의동이 PICK | 5분 발표</dc:title>
  <dc:subject>실제 구현 기능과 가상 데이터 범위를 설명하는 USB 체험판 발표</dc:subject>
  <dc:creator>의동이 PICK</dc:creator>
  <cp:keywords>의성, CSV, USB, 오프라인, 여행, 체험판</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